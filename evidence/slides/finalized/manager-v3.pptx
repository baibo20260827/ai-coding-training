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9cfc1d8304a3a" /><Relationship Type="http://schemas.openxmlformats.org/officeDocument/2006/relationships/extended-properties" Target="/docProps/app.xml" Id="R20b14bcd66374eba" /><Relationship Type="http://schemas.openxmlformats.org/officeDocument/2006/relationships/officeDocument" Target="/ppt/presentation.xml" Id="Rda19621c6a9e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2be3a9db94c60"/>
  </p:sldMasterIdLst>
  <p:notesMasterIdLst>
    <p:notesMasterId xmlns:r="http://schemas.openxmlformats.org/officeDocument/2006/relationships" r:id="Rb5c86278f40e4706"/>
  </p:notesMasterIdLst>
  <p:sldIdLst>
    <p:sldId xmlns:r="http://schemas.openxmlformats.org/officeDocument/2006/relationships" id="256" r:id="R93a4e84dbb4f47c3"/>
    <p:sldId xmlns:r="http://schemas.openxmlformats.org/officeDocument/2006/relationships" id="257" r:id="R8ca306be2a764823"/>
    <p:sldId xmlns:r="http://schemas.openxmlformats.org/officeDocument/2006/relationships" id="258" r:id="R85b910dc795b4083"/>
    <p:sldId xmlns:r="http://schemas.openxmlformats.org/officeDocument/2006/relationships" id="259" r:id="R3cb38db724f54b9a"/>
    <p:sldId xmlns:r="http://schemas.openxmlformats.org/officeDocument/2006/relationships" id="260" r:id="R1512ebc962874d74"/>
    <p:sldId xmlns:r="http://schemas.openxmlformats.org/officeDocument/2006/relationships" id="261" r:id="R1934c9f3671143a1"/>
    <p:sldId xmlns:r="http://schemas.openxmlformats.org/officeDocument/2006/relationships" id="262" r:id="R044d095ce87147fe"/>
    <p:sldId xmlns:r="http://schemas.openxmlformats.org/officeDocument/2006/relationships" id="263" r:id="R9f6bdcdf872f4cfb"/>
    <p:sldId xmlns:r="http://schemas.openxmlformats.org/officeDocument/2006/relationships" id="264" r:id="Rde5d1242b5704881"/>
    <p:sldId xmlns:r="http://schemas.openxmlformats.org/officeDocument/2006/relationships" id="265" r:id="R0ba531bb538d46d4"/>
    <p:sldId xmlns:r="http://schemas.openxmlformats.org/officeDocument/2006/relationships" id="266" r:id="R9fb833585a614a8d"/>
    <p:sldId xmlns:r="http://schemas.openxmlformats.org/officeDocument/2006/relationships" id="267" r:id="R191dc3eb09204460"/>
    <p:sldId xmlns:r="http://schemas.openxmlformats.org/officeDocument/2006/relationships" id="268" r:id="Ree7afb72919949e2"/>
    <p:sldId xmlns:r="http://schemas.openxmlformats.org/officeDocument/2006/relationships" id="269" r:id="Radecc0077ef648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d5f6ac90e14a0a" /><Relationship Type="http://schemas.openxmlformats.org/officeDocument/2006/relationships/slideMaster" Target="/ppt/slideMasters/slideMaster1.xml" Id="R2e52be3a9db94c60" /><Relationship Type="http://schemas.openxmlformats.org/officeDocument/2006/relationships/notesMaster" Target="/ppt/notesMasters/notesMaster1.xml" Id="Rb5c86278f40e4706" /><Relationship Type="http://schemas.openxmlformats.org/officeDocument/2006/relationships/presProps" Target="/ppt/presProps.xml" Id="Rbe1df58825184643" /><Relationship Type="http://schemas.openxmlformats.org/officeDocument/2006/relationships/tableStyles" Target="/ppt/tableStyles.xml" Id="Re30bb30f820e4d1a" /><Relationship Type="http://schemas.openxmlformats.org/officeDocument/2006/relationships/slide" Target="/ppt/slides/slide1.xml" Id="R93a4e84dbb4f47c3" /><Relationship Type="http://schemas.openxmlformats.org/officeDocument/2006/relationships/slide" Target="/ppt/slides/slide2.xml" Id="R8ca306be2a764823" /><Relationship Type="http://schemas.openxmlformats.org/officeDocument/2006/relationships/slide" Target="/ppt/slides/slide3.xml" Id="R85b910dc795b4083" /><Relationship Type="http://schemas.openxmlformats.org/officeDocument/2006/relationships/slide" Target="/ppt/slides/slide4.xml" Id="R3cb38db724f54b9a" /><Relationship Type="http://schemas.openxmlformats.org/officeDocument/2006/relationships/slide" Target="/ppt/slides/slide5.xml" Id="R1512ebc962874d74" /><Relationship Type="http://schemas.openxmlformats.org/officeDocument/2006/relationships/slide" Target="/ppt/slides/slide6.xml" Id="R1934c9f3671143a1" /><Relationship Type="http://schemas.openxmlformats.org/officeDocument/2006/relationships/slide" Target="/ppt/slides/slide7.xml" Id="R044d095ce87147fe" /><Relationship Type="http://schemas.openxmlformats.org/officeDocument/2006/relationships/slide" Target="/ppt/slides/slide8.xml" Id="R9f6bdcdf872f4cfb" /><Relationship Type="http://schemas.openxmlformats.org/officeDocument/2006/relationships/slide" Target="/ppt/slides/slide9.xml" Id="Rde5d1242b5704881" /><Relationship Type="http://schemas.openxmlformats.org/officeDocument/2006/relationships/slide" Target="/ppt/slides/slide10.xml" Id="R0ba531bb538d46d4" /><Relationship Type="http://schemas.openxmlformats.org/officeDocument/2006/relationships/slide" Target="/ppt/slides/slide11.xml" Id="R9fb833585a614a8d" /><Relationship Type="http://schemas.openxmlformats.org/officeDocument/2006/relationships/slide" Target="/ppt/slides/slide12.xml" Id="R191dc3eb09204460" /><Relationship Type="http://schemas.openxmlformats.org/officeDocument/2006/relationships/slide" Target="/ppt/slides/slide13.xml" Id="Ree7afb72919949e2" /><Relationship Type="http://schemas.openxmlformats.org/officeDocument/2006/relationships/slide" Target="/ppt/slides/slide14.xml" Id="Radecc0077ef6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be4ecf566f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01e3c979745d0" /><Relationship Type="http://schemas.openxmlformats.org/officeDocument/2006/relationships/notesMaster" Target="/ppt/notesMasters/notesMaster1.xml" Id="R0c176845bcdf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1d202477842a0" /><Relationship Type="http://schemas.openxmlformats.org/officeDocument/2006/relationships/notesMaster" Target="/ppt/notesMasters/notesMaster1.xml" Id="Rb53e3d28ce104a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c443a091940a1" /><Relationship Type="http://schemas.openxmlformats.org/officeDocument/2006/relationships/notesMaster" Target="/ppt/notesMasters/notesMaster1.xml" Id="R85928390eeda44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3cc411b2884841" /><Relationship Type="http://schemas.openxmlformats.org/officeDocument/2006/relationships/notesMaster" Target="/ppt/notesMasters/notesMaster1.xml" Id="R2e17d47fb16d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099b7f9ca428b" /><Relationship Type="http://schemas.openxmlformats.org/officeDocument/2006/relationships/notesMaster" Target="/ppt/notesMasters/notesMaster1.xml" Id="R5d0e1c9be2ab45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73853a3f3d402d" /><Relationship Type="http://schemas.openxmlformats.org/officeDocument/2006/relationships/notesMaster" Target="/ppt/notesMasters/notesMaster1.xml" Id="Ra5bbedc3aded48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812b0306b498c" /><Relationship Type="http://schemas.openxmlformats.org/officeDocument/2006/relationships/notesMaster" Target="/ppt/notesMasters/notesMaster1.xml" Id="R39f273f3b1cc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6e4608b794efe" /><Relationship Type="http://schemas.openxmlformats.org/officeDocument/2006/relationships/notesMaster" Target="/ppt/notesMasters/notesMaster1.xml" Id="R90190550768e43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34112fdee94905" /><Relationship Type="http://schemas.openxmlformats.org/officeDocument/2006/relationships/notesMaster" Target="/ppt/notesMasters/notesMaster1.xml" Id="R0963b91e9cec40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196cb2e427456a" /><Relationship Type="http://schemas.openxmlformats.org/officeDocument/2006/relationships/notesMaster" Target="/ppt/notesMasters/notesMaster1.xml" Id="Rd794d3a7f1d049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bc12f1beff4bf6" /><Relationship Type="http://schemas.openxmlformats.org/officeDocument/2006/relationships/notesMaster" Target="/ppt/notesMasters/notesMaster1.xml" Id="Rddf2682aeb214c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d0e54e31464f46" /><Relationship Type="http://schemas.openxmlformats.org/officeDocument/2006/relationships/notesMaster" Target="/ppt/notesMasters/notesMaster1.xml" Id="Rda2c4b0985b74d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179c9bddb34857" /><Relationship Type="http://schemas.openxmlformats.org/officeDocument/2006/relationships/notesMaster" Target="/ppt/notesMasters/notesMaster1.xml" Id="Rcf282d9ef3dd4b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0077015a6b475e" /><Relationship Type="http://schemas.openxmlformats.org/officeDocument/2006/relationships/notesMaster" Target="/ppt/notesMasters/notesMaster1.xml" Id="Rd103b3ab27c3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交付与能力建设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建议授课 45 分钟，讨论 15 分钟，实际节奏待试讲校准。学习目标：主管能够区分实现、验证、接受，依据剩余工作和依赖判断预测，比较变更方案，安排技术把关与工具接管责任。本课共用会议室预约本地示例，故事、计划数字和变更情境均为教学假设。材料完成不表示培训已经有效，也不表示任何客户已经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页：客户场景与本期范围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分钟。先请主管说出客户究竟要完成的工作，而不是罗列 AI 功能。教学假设是部门同事需要减少来回问空闲时间、避免撞会。单日指一次预约不跨日期，不限于今天。确认业务负责人和验收人后，记录本期范围、明确不含内容和外部依赖。演示原型只能帮助核对理解，可靠保存与冲突处理仍要验证。真实客户资料、岗位与使用方式尚未输入，本页不是客户确认纪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页：Harness 的责任分工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分钟。这里采用建设方案中的广义工程 harness：任务规范、项目上下文、环境、工具权限、检查、反馈与恢复。AI 可以起草、编码和执行获准检查，交付责任仍需明确到角色。AGENTS.md 是工作指导入口，帮助 AI 找到规则、命令和材料，文件本身不会强制执行测试，也不会配置权限。让主管指出本团队目前谁能接住技术审查、业务验收和交付决策，未确定者登记为待办。角色可以兼任，职责不能缺失。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页：进度的单位：可验收成果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分钟。用三个代表性验收项说明进度口径。R 编号对应需求，A 编号对应验收。不要把场景通过比例直接换算为剩余工期，剩下的并发或环境工作可能比页面工作更复杂。项目报告应能链接证据，标明版本、环境、日期、执行人和未覆盖范围。要求学员判断：开发者跑过测试但客户未查看结果，应该写什么状态？答案是按证据写已验证、客户接受待确认。当前页是记录方法，不宣告这些项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页：4A：同一个预约的四种视图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分钟。沿同一预约解释四类视图。BA 说明用户查看空闲、预约、取消，以及相邻允许和重叠拒绝。AA 说明页面、HTTP 接口、业务校验及存取的职责。DA 说明预约标识、日期、开始结束、预约人等数据与保存、取消生命周期。TA 说明浏览器访问本机 Python 服务，再读写 SQLite 文件。用 R03 串起来：业务规则进入校验模块，依赖日期与区间数据，并需要存储事务保护。四幅图的价值是说明影响范围。新增审批会改变业务流程、状态、权限和应用职责，不能只多画一个按钮。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页：阶段报告：承诺、证据与预测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本页是演练示范，不是本项目真实周报。报告至少包含原承诺、当前已批准承诺、已验收成果及证据、剩余工作、阻塞、预测、偏差原因和待决策事项。示范中周五仍是已批准基础范围的承诺，新增审批等待评估，不能默默把已批准日期改成预测日期。主管应询问：剩下什么、谁提供依赖、最晚什么时候决定、等待会影响哪些任务。继续推进不依赖审批决定的已授权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页：新增审批的影响分析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沿开篇审批变更展开。先登记来源、业务原因、相对原基线差异和新验收条件。区分新增范围、原有缺陷、理解偏差、估算偏差和外部阻塞。分析要覆盖已完工内容的返工，以及数据、测试、联调、发布和培训材料。日期预测必须看依赖顺序：审批人规则未定会影响设计，身份系统未就绪会影响联调。增加一个人不一定缩短关键路径，新增三个人日也不等于延期三天。要求团队给出区间、前提和不确定性，不能凭空报一个确定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页：合理延期的方案与沟通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两位学员分别扮客户和主管。建议表达：原承诺是周五试用基础预约，新增审批需要确认审批人和占用规则，并增加状态与权限验证。我们可以保持原日期先试用基础范围，或在规则确认后重排完整范围计划，请在约定决策点选择。这里不填具体延期天数，因为没有真实估算依据。客户、主管和上下游使用同一份影响分析，分别突出业务价值、资源风险、接口日期。保留必要质量和验收要求，避免为了守日期省掉关键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页：工具依赖与人员储备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工具可用并不保证团队有足够审查能力。按业务验收、工程审查、故障恢复和导师带教建立能力清单，以实际完成的任务为证据。工具不可用时，任务说明、代码、测试、运行方法和问题记录应支持人工或其他获准工具接续，是否使用替代工具还要遵守准入和数据规则。不要承诺任何模型永久稳定或无供应商依赖。成效应看验收任务总成本、交付周期、缺陷、审查返工和能力人数，并记录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页：部署与 DfX 的客户对齐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分钟。部署先对齐环境提供方、基础设施与数据库中间件准入、数据连接和就绪日期，不展开产品选型。DfX 指面向质量属性规划设计与验证，本课只示范如何把属性、场景、目标、措施、验证、证据和确认人写清楚。例如预约一致性目标是同一时段不能双订，证据是并发验收，性能目标需要真实用户规模和环境后再定。Python 官方说明 http.server 不推荐用于生产，本示例因此明确限定本地教学。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页：主管练习与持续改进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练习使用配套主管情境材料，不能只让学员复述幻灯片。通过标准是明确原与当前承诺、核对证据、识别新增审批的依赖，给出有依据的决策与需要补充的信息。事实不足时可以决定补充验证，不能编造确认和日期。后续以试讲、未见任务、真实项目三层证据校准培训效果。每次反馈记录来源、影响范围、修改位置、验证结果和下一步，并同步需求、架构、代码、文档与课件。当前没有真实培训成效或客户接受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6097176e243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19c69112042b3" /><Relationship Type="http://schemas.openxmlformats.org/officeDocument/2006/relationships/slideLayout" Target="/ppt/slideLayouts/slideLayout1.xml" Id="R45f2f1665da74a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f2f1665da74a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093f932784fed" /><Relationship Type="http://schemas.openxmlformats.org/officeDocument/2006/relationships/notesSlide" Target="/ppt/notesSlides/notesSlide1.xml" Id="R0609a522b518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6c442c09c46d7" /><Relationship Type="http://schemas.openxmlformats.org/officeDocument/2006/relationships/notesSlide" Target="/ppt/notesSlides/notesSlide2.xml" Id="R05c07977348d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6b3aff874506" /><Relationship Type="http://schemas.openxmlformats.org/officeDocument/2006/relationships/notesSlide" Target="/ppt/notesSlides/notesSlide3.xml" Id="Rddaeb76dce6048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cd443cba4b59" /><Relationship Type="http://schemas.openxmlformats.org/officeDocument/2006/relationships/notesSlide" Target="/ppt/notesSlides/notesSlide4.xml" Id="Rabf4daf53b7549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4bd9b3684534" /><Relationship Type="http://schemas.openxmlformats.org/officeDocument/2006/relationships/notesSlide" Target="/ppt/notesSlides/notesSlide5.xml" Id="R0b279d4baa1847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2a91567124a94" /><Relationship Type="http://schemas.openxmlformats.org/officeDocument/2006/relationships/notesSlide" Target="/ppt/notesSlides/notesSlide6.xml" Id="Ra7188dae9097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ccf48c8284042" /><Relationship Type="http://schemas.openxmlformats.org/officeDocument/2006/relationships/notesSlide" Target="/ppt/notesSlides/notesSlide7.xml" Id="R398b6f806cc041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ed1f286214f99" /><Relationship Type="http://schemas.openxmlformats.org/officeDocument/2006/relationships/notesSlide" Target="/ppt/notesSlides/notesSlide8.xml" Id="R4eb0409defa548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3aec625f34c35" /><Relationship Type="http://schemas.openxmlformats.org/officeDocument/2006/relationships/notesSlide" Target="/ppt/notesSlides/notesSlide9.xml" Id="R3e1452a501a94d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818fd87184128" /><Relationship Type="http://schemas.openxmlformats.org/officeDocument/2006/relationships/notesSlide" Target="/ppt/notesSlides/notesSlide10.xml" Id="R573de66dba424e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54de56eaf47c1" /><Relationship Type="http://schemas.openxmlformats.org/officeDocument/2006/relationships/notesSlide" Target="/ppt/notesSlides/notesSlide11.xml" Id="R547658c5b2e0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4755fa5e4855" /><Relationship Type="http://schemas.openxmlformats.org/officeDocument/2006/relationships/notesSlide" Target="/ppt/notesSlides/notesSlide12.xml" Id="Rc75fea504c0048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981b97b1149d2" /><Relationship Type="http://schemas.openxmlformats.org/officeDocument/2006/relationships/notesSlide" Target="/ppt/notesSlides/notesSlide13.xml" Id="R05371ab0ccea45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304353294068" /><Relationship Type="http://schemas.openxmlformats.org/officeDocument/2006/relationships/notesSlide" Target="/ppt/notesSlides/notesSlide14.xml" Id="R0a909ad82a184d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337430-7479-4EC5-A9D0-F4EEA8E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主管课程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7A7A038-47B3-44E9-BE22-64DA1604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交付与能力建设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D26EDD-B719-4709-B99A-A083ECD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用交付证据控制进度与风险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D7D687-33EB-44E2-A0B4-8FC2BE7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6D36DC-6094-45EC-93BF-DB582BAF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84631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458315-89B5-4CE4-9A41-5C19EE8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F67AE38-F70E-445E-9DA0-AD39EEA8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6B2F73-F19A-4995-8AC9-D9519CA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99B0DB-E86E-4772-A36C-9E02AEEF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336937-A775-414E-9AF7-BCD2737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3DBD17-2827-4920-8710-AAD3C937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A3F1A4-502C-42AB-8417-0E486CB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D13604-9245-4580-B296-E318924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C1C1BA-325A-4424-9CEC-D01A3E2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E88794-E5D7-46B6-8BE1-BCBE034E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8A6B07-2E15-4C02-BDE0-73521A2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36CBB1-5A23-4967-A94D-C036648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D38C43A-73E8-489C-A85A-FF013D9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21939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0E103A-B27C-4C31-8DF4-1E410A7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F8DEE3F-A78F-46A9-8C83-FF11CEE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0A5817-28C0-4D2B-8CDA-ABD1DFBA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98F26F-687A-4D1D-AE2F-EB7F7E51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872C45-C903-4615-A273-1A98D19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627A5E-7C9B-4E9F-9A21-6A9F4AE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C80C92-49A2-4780-A556-A35A6262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EB0F47-7DC0-4C55-85AA-97473CDD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B38DDE-A6A4-439D-91ED-5C7605E9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352BE0-0707-4513-89D8-1E9DC00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8E64CB-A9DA-453D-B967-AF8446FE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F56998-8307-46D8-AAD2-6F0424D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84F086-8369-4B70-9256-A4610DD6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949217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C646FF-51CE-4C71-8B12-D33CBF4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B8F34C2-F0D4-4D19-9D7C-1F1C49B9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52AD10-2151-4829-80ED-E20C49F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195107-77A8-4618-A84A-119E949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21E76C-975F-42DC-B8FC-30FFEE2D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B96EDB-7959-422B-B649-6A41E16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6F7369-6536-44C2-AE0A-B490AD4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C713EE-193C-4ADD-BAC8-6C0FFA39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3645B8-FB79-4441-AA47-BDF7B43E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27838D-1B1C-435D-9954-6DC6416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C16FAF-E59F-482E-AE02-B384DAFC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9B7FF9-1376-4308-8293-3C484F8E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47AC68-2CEC-4C6E-A03B-7F8AE97E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730390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5B8D7-DB5F-4B4F-A796-E83B9C2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客户场景与本期范围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D49E85-FA74-4826-A1F7-B660EC7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客户要完成一件事：找到空闲时段并可靠预约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BC3A00F-77D4-465D-AADE-AE515D0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AB29EA-6F19-4579-B344-F9F1D94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552E1D-19B0-48A8-8E30-E235CC9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场景与验收人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381550-A699-4F12-9B61-87FA971C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使用者：部门同事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8346E-E47B-40FD-9150-8D789FF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业务目标：减少重复沟通与冲突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114826-D0E0-45FC-B9C9-02E1CAC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验收人：业务负责人指定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E0873F-4501-49FC-B24F-EDADE09B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真实场景与权限仍待确认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A084A3-09D0-4482-9B2F-38D4450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教学范围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BE3D3C-A768-4DBC-95B0-71BE0D07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4C78C7-BFEE-475A-9330-66793FB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6EE883-BE5A-4304-B4DC-210B622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半小时时段，查看、预约、取消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BE9F47D-0EC0-40CB-A39C-3E88D384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本地演示，无登录与审批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30C75232-A2BE-4819-B671-FF2EFAE4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原型核对理解，验收例子固定预期</a:t>
            </a:r>
          </a:p>
        </p:txBody>
      </p:sp>
    </p:spTree>
    <p:extLst>
      <p:ext uri="{BB962C8B-B14F-4D97-AF65-F5344CB8AC3E}">
        <p14:creationId xmlns:p14="http://schemas.microsoft.com/office/powerpoint/2010/main" val="1767709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665934-838E-4DE3-B693-911CECD0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Harness 的责任分工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6CE1C3B-61D3-4496-B01B-0DE833E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本项目将 harness 定义为 AI 工作的工程支撑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283D8D6-323E-4B33-8E76-0D8306F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CB0E4A2-9DB8-47D8-8EDE-4AFA804E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FE8E0DD-2768-4A3F-9D1B-7D2DFB2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业务负责人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75FABB-C735-4AC0-B897-E19638C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说明场景，确认范围与验收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7A0347-91BC-436C-B93D-DC3F086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工程负责人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2E7A9D-3028-4B2A-ADF1-17E8BD8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划定修改边界，审查与独立验证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D59D8B-1253-4E14-8B34-7447B74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执行者与 AI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7F40C63-E42A-4E03-8173-147F49D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小步实现，留下差异与运行证据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F2EE25-DDB7-4E28-A60F-B9EC13B0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授权决策人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3CC029-2D68-487A-8B98-2D6AF5A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确认资源、预算、日期及发布决定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C3059F9-71F8-49E9-88FA-DB896E1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AGENTS.md 保存工作指导，检查与权限由实际机制落实</a:t>
            </a:r>
          </a:p>
        </p:txBody>
      </p:sp>
    </p:spTree>
    <p:extLst>
      <p:ext uri="{BB962C8B-B14F-4D97-AF65-F5344CB8AC3E}">
        <p14:creationId xmlns:p14="http://schemas.microsoft.com/office/powerpoint/2010/main" val="2020412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8C639F-819F-4405-9B7B-5217771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进度的单位：可验收成果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72F46AA-31D3-4748-A97C-F7220E39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同一场景分别记录实现、验证、接受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3585C8B-542A-4DA4-9804-D19B22A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189F51-9EBA-449A-AAC9-2B206FA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476625"/>
                <a:gridCol w="4543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需求与验收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可观察结果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应保留的证据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 冲突与相邻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相邻允许，重叠拒绝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验收例子与实际运行结果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 持久化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刷新及重启后记录仍在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操作记录与数据检查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 同时预约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并发测试与失败响应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E6253401-8E88-48EC-94E4-89D517FD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代码已写完、检查已通过、客户已接受，是三个不同状态</a:t>
            </a:r>
          </a:p>
        </p:txBody>
      </p:sp>
    </p:spTree>
    <p:extLst>
      <p:ext uri="{BB962C8B-B14F-4D97-AF65-F5344CB8AC3E}">
        <p14:creationId xmlns:p14="http://schemas.microsoft.com/office/powerpoint/2010/main" val="1728795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6E0057-AAA2-4584-8773-FFBA3BF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4A：同一个预约的四种视图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A6D31DE-E367-435D-8C21-54B7689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8D1BFD-478C-4C44-AF60-CE877EC6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CF2816-AC24-42C5-84CE-67D51822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F606B2-1091-4739-AD4C-C5A08667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7FED4B-9C25-4C4C-9A0C-C341DBBB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A778AA94-4101-4EF5-9DE1-A48CF95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C841A61A-F160-455F-BE03-E878B91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620F0D15-7A23-4619-B015-6A340F3E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4919E7-776D-483F-8EFB-F0B794E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EE7C33-9278-44A8-A83A-27AC6CE8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7B6FC8A4-50D1-4E93-BB34-01A9666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11913377-A187-4BDA-B0D4-70D8D8A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72D4B12A-1EA1-460C-9DD5-5588E17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462F3E8-43EC-4362-BF66-6E83A9A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2420A9-01E7-4854-94DF-297F69D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EB9D38B2-3F69-4AEA-A1C2-1A518307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01539524-A65C-4AA6-829A-3332417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45DB34EF-53EE-44FB-B8E7-56409F15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0798F65-BB80-4E30-838C-111D9C2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6B9B201-2D19-4B4C-8DE4-66EC340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85C0CE25-CA4A-4D3F-AE3B-25974AC5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105B3417-3664-42E8-BC5D-BE658F6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109B46FD-DC0B-48B1-958C-77381DF0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1C9D1956-6D3C-4AEB-B87C-403E76F4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4A 暂采用 BA、AA、DA、TA 口径，真实项目需核对部门标准</a:t>
            </a:r>
          </a:p>
        </p:txBody>
      </p:sp>
    </p:spTree>
    <p:extLst>
      <p:ext uri="{BB962C8B-B14F-4D97-AF65-F5344CB8AC3E}">
        <p14:creationId xmlns:p14="http://schemas.microsoft.com/office/powerpoint/2010/main" val="52962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D56B37-85CC-47BC-AB1D-7A1E916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阶段报告：承诺、证据与预测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7D56E65-7B7E-418A-99F8-E704CCF8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示范状态卡，所有日期均为演练假设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738FFB0-2A21-419F-8E0E-4AA3666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2D1D10F-62F2-4038-BCF4-E9C10F8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原承诺与当前批准承诺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周五试用基础功能，审批尚未批准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已验证与剩余工作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逐项引用证据，列出未通过的验收项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最新完成预测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按剩余任务、关键依赖和缓冲重新计算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偏差与待决策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审批待澄清，请决策人选择交付方案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F4C06A61-2076-4B1F-83D2-FB986FB5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预测日期与已批准日期分别展示，保留原基线</a:t>
            </a:r>
          </a:p>
        </p:txBody>
      </p:sp>
    </p:spTree>
    <p:extLst>
      <p:ext uri="{BB962C8B-B14F-4D97-AF65-F5344CB8AC3E}">
        <p14:creationId xmlns:p14="http://schemas.microsoft.com/office/powerpoint/2010/main" val="1508149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1F88CC-AC3F-41EB-89E3-65CA92C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新增审批的影响分析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1E5590F-4B72-4B40-9DA9-45BFC26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先澄清规则，再评估返工与计划影响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16118E6-868F-4AFA-9252-017D4D41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D2AF23F-6EDD-4F09-91A9-C17E8C22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受影响部分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需要补充的工作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谁审批，驳回怎么办，何时占用时段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4A 与实现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身份权限、审批状态、接口及数据变化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验证与交付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权限和状态测试、迁移、演示与材料更新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工期与依赖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关键路径、可并行任务、人员与外部等待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D79A6DA2-EA81-4E4C-9780-7E1595D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新增人日不能直接等同于延期天数</a:t>
            </a:r>
          </a:p>
        </p:txBody>
      </p:sp>
    </p:spTree>
    <p:extLst>
      <p:ext uri="{BB962C8B-B14F-4D97-AF65-F5344CB8AC3E}">
        <p14:creationId xmlns:p14="http://schemas.microsoft.com/office/powerpoint/2010/main" val="665675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76A63E-333B-4BA9-A12A-5FDF8F6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合理延期的方案与沟通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873D23C-65E2-4BB6-A701-3EC6E807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先说明业务影响，再提出有依据的选择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90E2DB5-A6B5-4B0A-95C0-6485CE2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01A5E9-9F29-4592-9A0B-9647766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E03069-C660-49EB-807D-053D972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可选方案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9A9E3D-1CBB-4C7D-87F8-E627308D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原日期先交基础范围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8031DE5-DA7D-4214-B574-2EB8E18A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完整审批范围另定日期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4CFE4C-A2D0-425E-BD58-515093AC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分期交付或替换低优先级项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CE678F-B4AE-4E1A-897A-71EEC494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增加适合资源并验证有效性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3D3BB9-F4EC-4AEA-B302-8C762E5E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一段完整说明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74D7E0-AA68-42A3-A9FF-68A9AF5A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原承诺与新增请求是什么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986B10-0D7F-48E2-BFC7-7221753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影响哪些交付及关键依赖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028B1C-11CB-4262-B68F-9779173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每个方案的范围、预测与风险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82907F3-83A5-4F4B-AB9A-569CEBC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谁需要在何时作出选择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BE2F6995-9C47-4899-A747-162E086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授权人确认后更新基线，保留原版本与确认依据</a:t>
            </a:r>
          </a:p>
        </p:txBody>
      </p:sp>
    </p:spTree>
    <p:extLst>
      <p:ext uri="{BB962C8B-B14F-4D97-AF65-F5344CB8AC3E}">
        <p14:creationId xmlns:p14="http://schemas.microsoft.com/office/powerpoint/2010/main" val="1442544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6DC8F2-671F-42C4-BB2D-3DB6CB2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工具依赖与人员储备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7C917D-6654-4D5B-AF36-E070EB2A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能力建设需要明确的接管责任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53872CA-A8F4-452D-A260-30D0157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1D82B9-85A3-4A94-A837-48FD843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197538-6732-4D41-94C4-6FB9BA03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工具管理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6CBBCB-396B-474E-80ED-335449C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记录工具、模型、版本与成本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1BF518-8C60-494E-85DF-F34D440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说明允许的数据和操作边界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24E814-E5AE-4CB1-9E03-59F1357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保存任务上下文与可运行代码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0B4A1C-C609-4EFA-9FFC-332F920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演练工具不可用时的接续方式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34BDDB-EC16-43F6-8AF4-94CD742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人员培养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2C90A8-8630-431E-8418-B377436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业务负责人掌握场景与验收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EFE82D-4A7F-4389-9EC7-CDE8DC1F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技术导师承担架构与关键审查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29D430-16E6-4E95-9102-0920A820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学员用未讲过的任务证明能力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8C33ECA-05A5-40E6-AF38-6EEB871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安排替补，减少单人依赖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FB9BB0B-8954-4CFF-9617-7EA7147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统计审查与返工成本，连同工具成本评估成效</a:t>
            </a:r>
          </a:p>
        </p:txBody>
      </p:sp>
    </p:spTree>
    <p:extLst>
      <p:ext uri="{BB962C8B-B14F-4D97-AF65-F5344CB8AC3E}">
        <p14:creationId xmlns:p14="http://schemas.microsoft.com/office/powerpoint/2010/main" val="515187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6C3B0D-975B-420E-AAB2-43A5AEA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的客户对齐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04935A3-DD07-4058-85B5-FF7E33C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本课程只建立清单和验收口径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9E205CC-D781-40C9-BA46-90B7702F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7D6581-9C1D-436E-80E8-124F63E4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对齐项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需要说清楚的内容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部署条件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位置、环境、准入、数据连接、就绪日期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交付与运维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发布窗口、监控备份、恢复与责任人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DfX 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按场景选择性能、安全、可靠性等目标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目标阈值、环境、证据、确认人及遗留问题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8BDB9CC0-9C00-455B-A6EB-CFAF8CE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本地练习使用标准库 HTTP 服务，真实部署需另行评审</a:t>
            </a:r>
          </a:p>
        </p:txBody>
      </p:sp>
    </p:spTree>
    <p:extLst>
      <p:ext uri="{BB962C8B-B14F-4D97-AF65-F5344CB8AC3E}">
        <p14:creationId xmlns:p14="http://schemas.microsoft.com/office/powerpoint/2010/main" val="15955131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9AFF2F-3E4C-4E27-9CE9-F3FA10C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主管练习与持续改进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7A8C9D-6219-468E-A6DE-08474F7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产出一项可解释的决策，保留依据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89E7963-D32E-4EC4-B2C8-0359D80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028274E-0720-4150-95B4-8369553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EFE11F-E927-43E7-923E-2E4AD91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课后练习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0CB584-A6B8-42E9-A69A-B19A1DC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阅读一份带审批变更的状态报告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F79A7D-6B87-4209-9C42-50A3819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区分实现、验证与客户接受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F7DC34-F863-4CC0-8A2A-68E9044E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比较方案并记录待确认前提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36078B-CD52-40C6-B43C-F25DF802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提出负责人及最晚决策时间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404BCE-BFFC-4E03-A8B0-EAF27F2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后续观察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EA79B34-03C5-4BC3-8DAD-B74A1A9D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试讲是否解决受众的真实困惑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F1FC8C-3DA9-411A-8EA9-074D0E9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新任务能否独立完成并验收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6112D7F-679B-4594-8D7D-41C4EEBA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真实项目的周期、缺陷与总成本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040D189-C801-4EDB-8FBE-5FFAF7B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反馈登记后同步修改相关材料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54D676EB-37F4-4CD0-A350-5C4E85E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材料可用、学会迁移、客户接受分别验证</a:t>
            </a:r>
          </a:p>
        </p:txBody>
      </p:sp>
    </p:spTree>
    <p:extLst>
      <p:ext uri="{BB962C8B-B14F-4D97-AF65-F5344CB8AC3E}">
        <p14:creationId xmlns:p14="http://schemas.microsoft.com/office/powerpoint/2010/main" val="1902741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2026-10-03T05:38:57.1540000Z</dcterms:created>
  <dcterms:modified xsi:type="dcterms:W3CDTF">2026-10-03T05:38:57.1540000Z</dcterms:modified>
</coreProperties>
</file>