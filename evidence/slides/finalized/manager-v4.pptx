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606246f4da449b" /><Relationship Type="http://schemas.openxmlformats.org/officeDocument/2006/relationships/extended-properties" Target="/docProps/app.xml" Id="R2cd7060f3fbb4220" /><Relationship Type="http://schemas.openxmlformats.org/officeDocument/2006/relationships/officeDocument" Target="/ppt/presentation.xml" Id="R62553567f73c43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d13cd3ba0249fc"/>
  </p:sldMasterIdLst>
  <p:notesMasterIdLst>
    <p:notesMasterId xmlns:r="http://schemas.openxmlformats.org/officeDocument/2006/relationships" r:id="Rb413d58e078b4445"/>
  </p:notesMasterIdLst>
  <p:sldIdLst>
    <p:sldId xmlns:r="http://schemas.openxmlformats.org/officeDocument/2006/relationships" id="256" r:id="R5e2655d59e324529"/>
    <p:sldId xmlns:r="http://schemas.openxmlformats.org/officeDocument/2006/relationships" id="257" r:id="Racd5355156484391"/>
    <p:sldId xmlns:r="http://schemas.openxmlformats.org/officeDocument/2006/relationships" id="258" r:id="Rb04969fac4ad433e"/>
    <p:sldId xmlns:r="http://schemas.openxmlformats.org/officeDocument/2006/relationships" id="259" r:id="Rea0cae7d6fbe4b50"/>
    <p:sldId xmlns:r="http://schemas.openxmlformats.org/officeDocument/2006/relationships" id="260" r:id="Rf4d821b5e1a9433e"/>
    <p:sldId xmlns:r="http://schemas.openxmlformats.org/officeDocument/2006/relationships" id="261" r:id="Rce3e6618d7144003"/>
    <p:sldId xmlns:r="http://schemas.openxmlformats.org/officeDocument/2006/relationships" id="262" r:id="R3533d6260cf74284"/>
    <p:sldId xmlns:r="http://schemas.openxmlformats.org/officeDocument/2006/relationships" id="263" r:id="R5454f2788c264e3e"/>
    <p:sldId xmlns:r="http://schemas.openxmlformats.org/officeDocument/2006/relationships" id="264" r:id="Ree024eaf02cd4419"/>
    <p:sldId xmlns:r="http://schemas.openxmlformats.org/officeDocument/2006/relationships" id="265" r:id="R9300d84c9d634324"/>
    <p:sldId xmlns:r="http://schemas.openxmlformats.org/officeDocument/2006/relationships" id="266" r:id="Re14f3d8886b5466f"/>
    <p:sldId xmlns:r="http://schemas.openxmlformats.org/officeDocument/2006/relationships" id="267" r:id="Rbd861f278958455e"/>
    <p:sldId xmlns:r="http://schemas.openxmlformats.org/officeDocument/2006/relationships" id="268" r:id="R6d4e23bf9ece4b94"/>
    <p:sldId xmlns:r="http://schemas.openxmlformats.org/officeDocument/2006/relationships" id="269" r:id="R56c9009ff38444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b0779406034d8d" /><Relationship Type="http://schemas.openxmlformats.org/officeDocument/2006/relationships/slideMaster" Target="/ppt/slideMasters/slideMaster1.xml" Id="R0ed13cd3ba0249fc" /><Relationship Type="http://schemas.openxmlformats.org/officeDocument/2006/relationships/notesMaster" Target="/ppt/notesMasters/notesMaster1.xml" Id="Rb413d58e078b4445" /><Relationship Type="http://schemas.openxmlformats.org/officeDocument/2006/relationships/presProps" Target="/ppt/presProps.xml" Id="Ref01d824faea4123" /><Relationship Type="http://schemas.openxmlformats.org/officeDocument/2006/relationships/tableStyles" Target="/ppt/tableStyles.xml" Id="Rf1e139fd4f0e4832" /><Relationship Type="http://schemas.openxmlformats.org/officeDocument/2006/relationships/slide" Target="/ppt/slides/slide1.xml" Id="R5e2655d59e324529" /><Relationship Type="http://schemas.openxmlformats.org/officeDocument/2006/relationships/slide" Target="/ppt/slides/slide2.xml" Id="Racd5355156484391" /><Relationship Type="http://schemas.openxmlformats.org/officeDocument/2006/relationships/slide" Target="/ppt/slides/slide3.xml" Id="Rb04969fac4ad433e" /><Relationship Type="http://schemas.openxmlformats.org/officeDocument/2006/relationships/slide" Target="/ppt/slides/slide4.xml" Id="Rea0cae7d6fbe4b50" /><Relationship Type="http://schemas.openxmlformats.org/officeDocument/2006/relationships/slide" Target="/ppt/slides/slide5.xml" Id="Rf4d821b5e1a9433e" /><Relationship Type="http://schemas.openxmlformats.org/officeDocument/2006/relationships/slide" Target="/ppt/slides/slide6.xml" Id="Rce3e6618d7144003" /><Relationship Type="http://schemas.openxmlformats.org/officeDocument/2006/relationships/slide" Target="/ppt/slides/slide7.xml" Id="R3533d6260cf74284" /><Relationship Type="http://schemas.openxmlformats.org/officeDocument/2006/relationships/slide" Target="/ppt/slides/slide8.xml" Id="R5454f2788c264e3e" /><Relationship Type="http://schemas.openxmlformats.org/officeDocument/2006/relationships/slide" Target="/ppt/slides/slide9.xml" Id="Ree024eaf02cd4419" /><Relationship Type="http://schemas.openxmlformats.org/officeDocument/2006/relationships/slide" Target="/ppt/slides/slide10.xml" Id="R9300d84c9d634324" /><Relationship Type="http://schemas.openxmlformats.org/officeDocument/2006/relationships/slide" Target="/ppt/slides/slide11.xml" Id="Re14f3d8886b5466f" /><Relationship Type="http://schemas.openxmlformats.org/officeDocument/2006/relationships/slide" Target="/ppt/slides/slide12.xml" Id="Rbd861f278958455e" /><Relationship Type="http://schemas.openxmlformats.org/officeDocument/2006/relationships/slide" Target="/ppt/slides/slide13.xml" Id="R6d4e23bf9ece4b94" /><Relationship Type="http://schemas.openxmlformats.org/officeDocument/2006/relationships/slide" Target="/ppt/slides/slide14.xml" Id="R56c9009ff38444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d38f1b86fe46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f18b84b73448b1" /><Relationship Type="http://schemas.openxmlformats.org/officeDocument/2006/relationships/notesMaster" Target="/ppt/notesMasters/notesMaster1.xml" Id="Rfb52c6af010a48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f6e293f9324f2d" /><Relationship Type="http://schemas.openxmlformats.org/officeDocument/2006/relationships/notesMaster" Target="/ppt/notesMasters/notesMaster1.xml" Id="R7afbd202744543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8da7032f0c4cac" /><Relationship Type="http://schemas.openxmlformats.org/officeDocument/2006/relationships/notesMaster" Target="/ppt/notesMasters/notesMaster1.xml" Id="Rec82465722f94f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fbb0c900094724" /><Relationship Type="http://schemas.openxmlformats.org/officeDocument/2006/relationships/notesMaster" Target="/ppt/notesMasters/notesMaster1.xml" Id="Re9099856164d4c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795ff2409649c4" /><Relationship Type="http://schemas.openxmlformats.org/officeDocument/2006/relationships/notesMaster" Target="/ppt/notesMasters/notesMaster1.xml" Id="Rb538553a2eb54b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e29f227ed44c35" /><Relationship Type="http://schemas.openxmlformats.org/officeDocument/2006/relationships/notesMaster" Target="/ppt/notesMasters/notesMaster1.xml" Id="Raa40fe47675342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7e81fbab974960" /><Relationship Type="http://schemas.openxmlformats.org/officeDocument/2006/relationships/notesMaster" Target="/ppt/notesMasters/notesMaster1.xml" Id="R85fea3ebe2e840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1bea5078c044e5" /><Relationship Type="http://schemas.openxmlformats.org/officeDocument/2006/relationships/notesMaster" Target="/ppt/notesMasters/notesMaster1.xml" Id="R2768fb63bb9e4d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2434cf625f494e" /><Relationship Type="http://schemas.openxmlformats.org/officeDocument/2006/relationships/notesMaster" Target="/ppt/notesMasters/notesMaster1.xml" Id="Rc66c3f85a22740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a855274d944708" /><Relationship Type="http://schemas.openxmlformats.org/officeDocument/2006/relationships/notesMaster" Target="/ppt/notesMasters/notesMaster1.xml" Id="Rea268305fdc04c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0e4aad0778487d" /><Relationship Type="http://schemas.openxmlformats.org/officeDocument/2006/relationships/notesMaster" Target="/ppt/notesMasters/notesMaster1.xml" Id="Rbe8e10c117574c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246b82a7f74e46" /><Relationship Type="http://schemas.openxmlformats.org/officeDocument/2006/relationships/notesMaster" Target="/ppt/notesMasters/notesMaster1.xml" Id="R9b1204c78fd042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3e03d292a6485d" /><Relationship Type="http://schemas.openxmlformats.org/officeDocument/2006/relationships/notesMaster" Target="/ppt/notesMasters/notesMaster1.xml" Id="R60c6e9de815244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6533ee6adc4907" /><Relationship Type="http://schemas.openxmlformats.org/officeDocument/2006/relationships/notesMaster" Target="/ppt/notesMasters/notesMaster1.xml" Id="Raafe696ebf7942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页：AI Coding 交付与能力建设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整课建议 75 分钟，包含环境准备、共同开篇、讲解操作、练习及反馈，具体以 training/README.md 的安排为准，实际节奏待试讲校准。学习目标：主管能够区分实现、验证、接受，依据剩余工作和依赖判断预测，比较变更方案，安排技术把关与工具接管责任。本课共用会议室预约本地示例，故事、计划数字和变更情境均为教学假设。材料完成不表示培训已经有效，也不表示任何客户已经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页：主管的小失败：周五还能交付吗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2 分钟。案例为虚构教学情境。周一约定周五试用查看、预约、取消，周三页面可操作，周四客户提出新增主管审批。主管据页面生成速度判断可以同日完成，到了周五才发现审批人、驳回后处理、待审批数据可见范围没有定清。可见后果是试用暂缓，并重新召开范围确认会。这里的困难是缺少支持承诺的证据。请问听众：回答周五一起给之前，你最需要补看什么？接收一两个回答后，引出交付状态卡。必须区分原功能缺陷与新增审批，不能用新增范围证明原范围不合格，也不能凭这个故事推断真实延期天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页：工程师的小失败：测试绿了，规则错了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2 分钟。案例为虚构、预设的错误修改。工程师请 AI 修复相邻预约误判，AI 回复全部测试通过。工程师补试一个明显重叠的预约，发现也能成功。差异显示，原来应拒绝的测试预期被改成允许。工程师停下合并，没有把故障交给真实用户。提问：测试全绿时，你怎样判断测试仍在检查正确的规则？引出两个独立验收例子、代码差异和测试预期审查。不要得出 AI 每次都会改坏测试的结论。测试可以随已确认需求改变，但预期变化需要业务依据。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页：新手的小失败：刷新后，预约不见了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2 分钟。案例为虚构教学情境。新手输入做一个好用的会议室预约系统，页面出现、按钮能点、列表能显示预约。展示时同事刷新页面，记录消失。新手不知道该重新做，还是继续说帮我修好。本故事预设记录只存在页面内存，真实故障不能仅凭同一现象断定同一原因。让听众补三条可检查要求：刷新保留、重叠拒绝、取消释放。再说明后续会逐步认识输入、规则、数据、结果，并学习提供操作步骤、预期、实际与环境信息来求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页：客户场景与本期范围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 分钟。先请主管说出客户究竟要完成的工作，而不是罗列 AI 功能。教学假设是部门同事需要减少来回问空闲时间、避免撞会。单日指一次预约不跨日期，不限于今天。确认业务负责人和验收人后，记录本期范围、明确不含内容和外部依赖。演示原型只能帮助核对理解，可靠保存与冲突处理仍要验证。真实客户资料、岗位与使用方式尚未输入，本页不是客户确认纪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页：Harness 的责任分工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 分钟。这里采用建设方案中的广义工程 harness：任务规范、项目上下文、环境、工具权限、检查、反馈与恢复。AI 可以起草、编码和执行获准检查，交付责任仍需明确到角色。AGENTS.md 是工作指导入口，帮助 AI 找到规则、命令和材料，文件本身不会强制执行测试，也不会配置权限。让主管指出本团队目前谁能接住技术审查、业务验收和交付决策，未确定者登记为待办。角色可以兼任，职责不能缺失。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agents: https://learn.chatgpt.com/docs/agent-configuration/agents-md</a:t>
            </a:r>
          </a:p>
          <a:p xmlns:a="http://schemas.openxmlformats.org/drawingml/2006/main">
            <a:r>
              <a:t>sandbox: https://learn.chatgpt.com/docs/sandboxing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页：进度的单位：可验收成果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 分钟。用三个代表性验收项说明进度口径。R 编号对应需求，A 编号对应验收。不要把场景通过比例直接换算为剩余工期，剩下的并发或环境工作可能比页面工作更复杂。项目报告应能链接证据，标明版本、环境、日期、执行人和未覆盖范围。要求学员判断：开发者跑过测试但客户未查看结果，应该写什么状态？答案是按证据写已验证、客户接受待确认。当前页是记录方法，不宣告这些项目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页：4A：同一个预约的四种视图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4 分钟。沿同一预约解释四类视图。BA 说明用户查看空闲、预约、取消，以及相邻允许和重叠拒绝。AA 说明页面、HTTP 接口、业务校验及存取的职责。DA 说明预约标识、日期、开始结束、预约人等数据与保存、取消生命周期。TA 说明浏览器访问本机 Python 服务，再读写 SQLite 文件。用 R03 串起来：业务规则进入校验模块，依赖日期与区间数据，并需要存储事务保护。四幅图的价值是说明影响范围。新增审批会改变业务流程、状态、权限和应用职责，不能只多画一个按钮。 本例数据模型由一条预约对应多个半小时占用格，同一日期与格起点只能占用一次。取消预约同时释放相应占用格。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architecture: https://help.opengroup.org/hc/en-us/articles/32115987894930-How-the-ArchiMate-Language-and-the-TOGAF-Standard-Complement-Each-Other</a:t>
            </a:r>
          </a:p>
          <a:p xmlns:a="http://schemas.openxmlformats.org/drawingml/2006/main">
            <a:r>
              <a:t>http: https://docs.python.org/3/library/http.server.html</a:t>
            </a:r>
          </a:p>
          <a:p xmlns:a="http://schemas.openxmlformats.org/drawingml/2006/main">
            <a:r>
              <a:t>sqlite: https://docs.python.org/3/library/sqlite3.html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页：阶段报告：承诺、证据与预测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 分钟。本页是演练示范，不是本项目真实周报。报告至少包含原承诺、当前已批准承诺、已验收成果及证据、剩余工作、阻塞、预测、偏差原因和待决策事项。示范中周五仍是已批准基础范围的承诺，新增审批等待评估，不能默默把已批准日期改成预测日期。主管应询问：剩下什么、谁提供依赖、最晚什么时候决定、等待会影响哪些任务。继续推进不依赖审批决定的已授权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页：新增审批的影响分析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4 分钟。沿开篇审批变更展开。先登记来源、业务原因、相对原基线差异和新验收条件。区分新增范围、原有缺陷、理解偏差、估算偏差和外部阻塞。分析要覆盖已完工内容的返工，以及数据、测试、联调、发布和培训材料。日期预测必须看依赖顺序：审批人规则未定会影响设计，身份系统未就绪会影响联调。增加一个人不一定缩短关键路径，新增三个人日也不等于延期三天。要求团队给出区间、前提和不确定性，不能凭空报一个确定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页：合理延期的方案与沟通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4 分钟。让两位学员分别扮客户和主管。建议表达：原承诺是周五试用基础预约，新增审批需要确认审批人和占用规则，并增加状态与权限验证。我们可以保持原日期先试用基础范围，或在规则确认后重排完整范围计划，请在约定决策点选择。这里不填具体延期天数，因为没有真实估算依据。客户、主管和上下游使用同一份影响分析，分别突出业务价值、资源风险、接口日期。保留必要质量和验收要求，避免为了守日期省掉关键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页：工具依赖与人员储备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 分钟。工具可用并不保证团队有足够审查能力。按业务验收、工程审查、故障恢复和导师带教建立能力清单，以实际完成的任务为证据。工具不可用时，任务说明、代码、测试、运行方法和问题记录应支持人工或其他获准工具接续，是否使用替代工具还要遵守准入和数据规则。不要承诺任何模型永久稳定或无供应商依赖。成效应看验收任务总成本、交付周期、缺陷、审查返工和能力人数，并记录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页：部署与 DfX 的客户对齐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 分钟。部署先对齐环境提供方、基础设施与数据库中间件准入、数据连接和就绪日期，不展开产品选型。DfX 指面向质量属性规划设计与验证，本课只示范如何把属性、场景、目标、措施、验证、证据和确认人写清楚。例如预约一致性目标是同一时段不能双订，证据是并发验收，性能目标需要真实用户规模和环境后再定。Python 官方说明 http.server 不推荐用于生产，本示例因此明确限定本地教学。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官方资料（2026-10-03 核对）：</a:t>
            </a:r>
          </a:p>
          <a:p xmlns:a="http://schemas.openxmlformats.org/drawingml/2006/main">
            <a:r>
              <a:t>http: https://docs.python.org/3/library/http.server.html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页：主管练习与持续改进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5 分钟。练习使用配套主管情境材料，不能只让学员复述幻灯片。通过标准是明确原与当前承诺、核对证据、识别新增审批的依赖，给出有依据的决策与需要补充的信息。事实不足时可以决定补充验证，不能编造确认和日期。后续以试讲、未见任务、真实项目三层证据校准培训效果。每次反馈记录来源、影响范围、修改位置、验证结果和下一步，并同步需求、架构、代码、文档与课件。当前没有真实培训成效或客户接受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材料来源：本项目 AGENTS.md、docs/PROJECT_PLAN.md、training/00-opening.md。</a:t>
            </a:r>
          </a:p>
          <a:p xmlns:a="http://schemas.openxmlformats.org/drawingml/2006/main">
            <a:r>
              <a:t>本页为教学设计与示例，无外部统计数据。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3cfd51837d4f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f1bb27aa02462c" /><Relationship Type="http://schemas.openxmlformats.org/officeDocument/2006/relationships/slideLayout" Target="/ppt/slideLayouts/slideLayout1.xml" Id="R3366defdf07442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66defdf07442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d751d94574ee8" /><Relationship Type="http://schemas.openxmlformats.org/officeDocument/2006/relationships/notesSlide" Target="/ppt/notesSlides/notesSlide1.xml" Id="Rd501b4095aa74b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c0114ac0b4198" /><Relationship Type="http://schemas.openxmlformats.org/officeDocument/2006/relationships/notesSlide" Target="/ppt/notesSlides/notesSlide2.xml" Id="R7db190a259e24b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717f0f0e7431b" /><Relationship Type="http://schemas.openxmlformats.org/officeDocument/2006/relationships/notesSlide" Target="/ppt/notesSlides/notesSlide3.xml" Id="R85889c7fd7764e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efd85a3244da1" /><Relationship Type="http://schemas.openxmlformats.org/officeDocument/2006/relationships/notesSlide" Target="/ppt/notesSlides/notesSlide4.xml" Id="R011d50407ccd44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5f9e0c2cb4c49" /><Relationship Type="http://schemas.openxmlformats.org/officeDocument/2006/relationships/notesSlide" Target="/ppt/notesSlides/notesSlide5.xml" Id="R3566e1f0dc494f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24e1ea9104024" /><Relationship Type="http://schemas.openxmlformats.org/officeDocument/2006/relationships/notesSlide" Target="/ppt/notesSlides/notesSlide6.xml" Id="Rd9d286195d0643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b6713a7ed4dc3" /><Relationship Type="http://schemas.openxmlformats.org/officeDocument/2006/relationships/notesSlide" Target="/ppt/notesSlides/notesSlide7.xml" Id="R5cc57108675b4d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a626250ec4eb6" /><Relationship Type="http://schemas.openxmlformats.org/officeDocument/2006/relationships/notesSlide" Target="/ppt/notesSlides/notesSlide8.xml" Id="R9d63fbf9f99547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3160942474f6a" /><Relationship Type="http://schemas.openxmlformats.org/officeDocument/2006/relationships/notesSlide" Target="/ppt/notesSlides/notesSlide9.xml" Id="R331bf8bc01b240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a1eb05d9a48a8" /><Relationship Type="http://schemas.openxmlformats.org/officeDocument/2006/relationships/notesSlide" Target="/ppt/notesSlides/notesSlide10.xml" Id="R26747db6bfee47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bf2df8a0d4151" /><Relationship Type="http://schemas.openxmlformats.org/officeDocument/2006/relationships/notesSlide" Target="/ppt/notesSlides/notesSlide11.xml" Id="Rd7fee71cf96243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14511ed10412c" /><Relationship Type="http://schemas.openxmlformats.org/officeDocument/2006/relationships/notesSlide" Target="/ppt/notesSlides/notesSlide12.xml" Id="Rf438e430e41e48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f013e415547cc" /><Relationship Type="http://schemas.openxmlformats.org/officeDocument/2006/relationships/notesSlide" Target="/ppt/notesSlides/notesSlide13.xml" Id="R111a673ab47c48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046f4559841c0" /><Relationship Type="http://schemas.openxmlformats.org/officeDocument/2006/relationships/notesSlide" Target="/ppt/notesSlides/notesSlide14.xml" Id="R65adc649dbd247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0A0F430-B9DA-4E42-B2F1-426D8DC0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主管课程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BE5B2B1-669E-4990-8D62-D68D01EC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8585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AI Coding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交付与能力建设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57E9A48-D442-45A9-9E5A-5286090B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4E4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D4E4E2"/>
                </a:solidFill>
                <a:latin typeface="Arial Unicode MS"/>
                <a:ea typeface="Arial Unicode MS"/>
                <a:cs typeface="Arial Unicode MS"/>
              </a:rPr>
              <a:t>用交付证据控制进度与风险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AB5D619-7B3D-41AE-9F0D-77D1F64A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软件工程 Harness 能力建设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D5EA979-628A-441C-8672-23636307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076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A8CCCA"/>
                </a:solidFill>
                <a:latin typeface="Arial Unicode MS"/>
                <a:ea typeface="Arial Unicode MS"/>
                <a:cs typeface="Arial Unicode MS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6243427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A008D9-0FA9-46FF-9A3F-3D7F13C2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主管的小失败：周五还能交付吗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B932C6FA-EA14-416F-AEB1-F6E89B71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B00C6A7-FFFE-44A5-B768-67AA6B1D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02 / 14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9E5307E-8940-4935-AA47-F7462A63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承诺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EDA1BAE-06F4-4C26-A68F-D482A8BC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“审批也一起加上，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还是周五给客户。”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82980FB-6999-423B-A8A7-AC42AEDA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684E324-7275-4C69-812A-BE191481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基础预约按原计划试用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8718B16-7D59-4C4F-89B6-59C08DD1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FF9DE73-9A0B-4708-BF67-E93037C6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看到页面后，承诺同日增加审批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8275FAD-2D52-44B3-BA12-4FD32C3E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AB9B45B-AA33-4DB8-A722-A8D69A46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审批规则未定，试用暂缓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898C996-2591-4549-BA37-F804DB26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第一步：核对原范围、验收状态与新增影响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07E74D5-F937-4204-8AB6-7993DCC0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虚构教学情境</a:t>
            </a:r>
          </a:p>
        </p:txBody>
      </p:sp>
    </p:spTree>
    <p:extLst>
      <p:ext uri="{BB962C8B-B14F-4D97-AF65-F5344CB8AC3E}">
        <p14:creationId xmlns:p14="http://schemas.microsoft.com/office/powerpoint/2010/main" val="18512272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2AA93D-242C-4755-9D81-880B7FD7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工程师的小失败：测试绿了，规则错了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970CF103-A284-4606-97DB-37457E46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42A8ACE-0683-45F1-B47C-F2A716F3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03 / 14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BF56E92-DBA7-4D74-98FB-9F771ACF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验证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040C539-D3A6-475C-8FF8-A1FC0F3A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“相邻预约修好了。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但重叠预约也成功了。”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5F4031D-9E2A-461D-83D9-D2599ED3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E25E80C-0659-48C0-ACD2-1136EC0F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11:00 接着 10:00—11:00，可以预约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E367477-AF7D-4D36-BDCD-C8DC5375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38C3800-5DBC-4FC9-A00E-96FFABA7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AI 同时修改逻辑与测试预期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CEBCC3A-0E28-488B-AA2A-4EA6BCDD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40E7086-09F9-436E-AD8C-D22928C8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10:30—11:30 也能提交，暂缓合并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8103C26-E78B-4BB0-B5E5-9C7276574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第一步：依据业务例子，独立核对测试预期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A1D9E3A-18CB-40F0-97A9-EDB4D5B4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虚构教学情境</a:t>
            </a:r>
          </a:p>
        </p:txBody>
      </p:sp>
    </p:spTree>
    <p:extLst>
      <p:ext uri="{BB962C8B-B14F-4D97-AF65-F5344CB8AC3E}">
        <p14:creationId xmlns:p14="http://schemas.microsoft.com/office/powerpoint/2010/main" val="3403918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07C32E-415C-4BA9-9562-CC453280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新手的小失败：刷新后，预约不见了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C163C82A-5163-41B8-9D0E-3518DA8F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2CBD3CA-3D21-48CD-B51D-89A91DE7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04 / 14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4938BA9-B44D-4F70-963F-57C4BCD6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起步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558A087-3794-4479-8385-D6EBD4EB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048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“页面已经做好了，</a:t>
            </a:r>
          </a:p>
          <a:p xmlns:a="http://schemas.openxmlformats.org/drawingml/2006/main">
            <a:pPr algn="l">
              <a:def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先别刷新。”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21BE338-AF1A-41C4-A6AF-68C2BBD4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期待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631675D-6CB2-42F1-AC7E-59E00BC5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0977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做一个好用的预约工具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A1B111A-1C84-4300-97E0-77FE9819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行动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0C8F399-A079-442E-8D60-2C024F02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48000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只描述想要的页面与按钮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1192DD8-5A5C-4FE3-8E03-5C591D44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后果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11DA684-CBFD-4C1F-9892-43687C2C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86225"/>
            <a:ext cx="44481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刷新丢记录，不知怎样描述问题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B0461E8-0EFE-4731-A542-9FA41926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第一步：写下可操作、可复查的验收例子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954A381-4123-499F-9893-0ADE01B3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虚构教学情境</a:t>
            </a:r>
          </a:p>
        </p:txBody>
      </p:sp>
    </p:spTree>
    <p:extLst>
      <p:ext uri="{BB962C8B-B14F-4D97-AF65-F5344CB8AC3E}">
        <p14:creationId xmlns:p14="http://schemas.microsoft.com/office/powerpoint/2010/main" val="3237239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54A527-ECB5-40CC-A3DC-C8924924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客户场景与本期范围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F6BB5BB8-7A8F-4909-B58E-95E88445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客户要完成一件事：找到空闲时段并可靠预约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6D7FCF8A-CE3E-4317-A782-A33969BA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AD313F0-9D30-454F-9A8D-73EE2BEA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05 / 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B17F1C0-931A-48F4-BC93-972400A7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场景与验收人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FB74429-AA49-4668-AFC7-FC29BCCC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使用者：部门同事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5E1EEC8-A316-4936-97BD-4B83C75E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业务目标：减少重复沟通与冲突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A5D9490-FD9E-48BE-9FE8-D3A42C3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验收人：业务负责人指定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5961B30-435B-4531-82B0-92D231DB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真实场景与权限仍待确认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4F0C5A2-9988-4BB3-BE4B-D73C4A9E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教学范围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25B9004-387B-433A-A6D2-C2B959BC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一间会议室，09:00—18:00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A651D7D-A072-4171-886D-6FDEF05E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每次预约在同一日期内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A39C4D6-F19B-4BA6-AB69-F04AC49F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半小时时段，查看、预约、取消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ECB6AAA-37AB-46AE-A220-3CCC0DEE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本地演示，无登录与审批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E4586FFD-864A-41EF-BE99-3FB376D6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原型核对理解，验收例子固定预期</a:t>
            </a:r>
          </a:p>
        </p:txBody>
      </p:sp>
    </p:spTree>
    <p:extLst>
      <p:ext uri="{BB962C8B-B14F-4D97-AF65-F5344CB8AC3E}">
        <p14:creationId xmlns:p14="http://schemas.microsoft.com/office/powerpoint/2010/main" val="4200909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12C6FF-99CB-4C76-ABAB-5EEF14DC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Harness 的责任分工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06AC38CA-B396-495F-9592-FFE1AFD7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本项目将 harness 定义为 AI 工作的工程支撑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A8A081E3-46B3-4C03-9BA0-E64E9D63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F473125-5A49-480C-956A-08E8B4D6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06 / 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ED2E528-3DBF-4F5F-A988-78F4C17F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业务负责人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3F21A80-9080-4474-954F-F7C71E5C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859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说明场景，确认范围与验收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ACD9A14-B6FE-451C-A086-DEA6F7F8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工程负责人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4234BD4-BBD8-40BD-8729-CE791FF3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划定修改边界，审查与独立验证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73748B6-6EBF-475D-941F-D858247F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执行者与 AI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8C43065-3D7E-48EE-8775-20EAC495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2427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小步实现，留下差异与运行证据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A67E98A-EA9B-4120-A0E7-7069A0F9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457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授权决策人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AF394E6-2E83-4BD6-B8FB-6564028A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43425"/>
            <a:ext cx="824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确认资源、预算、日期及发布决定</a:t>
            </a:r>
          </a:p>
        </p:txBody>
      </p:sp>
      <p:sp>
        <p:nvSpPr>
          <p:cNvPr id="13" name="takeaway">
            <a:extLst xmlns:a="http://schemas.openxmlformats.org/drawingml/2006/main">
              <a:ext uri="{FF2B5EF4-FFF2-40B4-BE49-F238E27FC236}">
                <a16:creationId xmlns:a16="http://schemas.microsoft.com/office/drawing/2014/main" id="{25969642-1BAC-4490-BD95-F329692A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AGENTS.md 保存工作指导，检查与权限由实际机制落实</a:t>
            </a:r>
          </a:p>
        </p:txBody>
      </p:sp>
    </p:spTree>
    <p:extLst>
      <p:ext uri="{BB962C8B-B14F-4D97-AF65-F5344CB8AC3E}">
        <p14:creationId xmlns:p14="http://schemas.microsoft.com/office/powerpoint/2010/main" val="12023617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0CC5AB-B6AA-4564-8757-38BAB7D5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进度的单位：可验收成果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4E0DF118-025D-4467-8EEC-B2F2957A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同一场景分别记录实现、验证、接受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36A70DDA-CB50-481F-B3C4-EA1613FA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89C69E5-17B4-448E-93C0-05E41DF8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07 / 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476625"/>
                <a:gridCol w="454342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需求与验收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可观察结果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应保留的证据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R03 / A03 冲突与相邻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相邻允许，重叠拒绝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验收例子与实际运行结果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R05 / A05 持久化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刷新及重启后记录仍在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操作记录与数据检查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R08 / A08 同时预约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同一时段只成功一次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并发测试与失败响应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76156C76-FD01-4F83-A4D9-C996506C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代码已写完、检查已通过、客户已接受，是三个不同状态</a:t>
            </a:r>
          </a:p>
        </p:txBody>
      </p:sp>
    </p:spTree>
    <p:extLst>
      <p:ext uri="{BB962C8B-B14F-4D97-AF65-F5344CB8AC3E}">
        <p14:creationId xmlns:p14="http://schemas.microsoft.com/office/powerpoint/2010/main" val="20165348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CF4E32-5123-4430-90F5-45196EB7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4A：同一个预约的四种视图</a:t>
            </a:r>
          </a:p>
        </p:txBody>
      </p:sp>
      <p:sp>
        <p:nvSpPr>
          <p:cNvPr id="2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DA190377-D27C-4997-9460-7507692A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543A76E-84D8-40DB-B9D2-5F7A26D7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08 / 14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3F0630F-13BB-4A7F-A7F5-79410C50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同一需求映射到流程、职责、数据和运行环境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888A03C-787D-4088-AEC2-DF784033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BA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95A1E6B-6CAB-431B-80E3-3970D644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业务架构</a:t>
            </a:r>
          </a:p>
        </p:txBody>
      </p:sp>
      <p:sp>
        <p:nvSpPr>
          <p:cNvPr id="7" name="4A-BA-0">
            <a:extLst xmlns:a="http://schemas.openxmlformats.org/drawingml/2006/main">
              <a:ext uri="{FF2B5EF4-FFF2-40B4-BE49-F238E27FC236}">
                <a16:creationId xmlns:a16="http://schemas.microsoft.com/office/drawing/2014/main" id="{F148238E-D1E5-40E5-B8D3-7DC7147F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查看空闲</a:t>
            </a:r>
          </a:p>
        </p:txBody>
      </p:sp>
      <p:sp>
        <p:nvSpPr>
          <p:cNvPr id="8" name="4A-BA-1">
            <a:extLst xmlns:a="http://schemas.openxmlformats.org/drawingml/2006/main">
              <a:ext uri="{FF2B5EF4-FFF2-40B4-BE49-F238E27FC236}">
                <a16:creationId xmlns:a16="http://schemas.microsoft.com/office/drawing/2014/main" id="{3CE4585A-1BA3-44EB-A3E2-206D5D82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提交预约 / 取消</a:t>
            </a:r>
          </a:p>
        </p:txBody>
      </p:sp>
      <p:sp>
        <p:nvSpPr>
          <p:cNvPr id="9" name="4A-BA-2">
            <a:extLst xmlns:a="http://schemas.openxmlformats.org/drawingml/2006/main">
              <a:ext uri="{FF2B5EF4-FFF2-40B4-BE49-F238E27FC236}">
                <a16:creationId xmlns:a16="http://schemas.microsoft.com/office/drawing/2014/main" id="{A24871F6-1936-4235-98EA-6225DB23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结果提示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95875" y="2362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143875" y="23622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triangle" w="sm" len="sm"/>
          </a:ln>
        </p:spPr>
      </p:cxn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836140A-13B4-4F01-A890-B9C94064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AA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A665AB4-033D-4E0D-A10D-B75AFB5D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应用架构</a:t>
            </a:r>
          </a:p>
        </p:txBody>
      </p:sp>
      <p:sp>
        <p:nvSpPr>
          <p:cNvPr id="14" name="4A-AA-0">
            <a:extLst xmlns:a="http://schemas.openxmlformats.org/drawingml/2006/main">
              <a:ext uri="{FF2B5EF4-FFF2-40B4-BE49-F238E27FC236}">
                <a16:creationId xmlns:a16="http://schemas.microsoft.com/office/drawing/2014/main" id="{B7AFDB28-BC7D-4741-BC7B-9167842E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原生页面</a:t>
            </a:r>
          </a:p>
        </p:txBody>
      </p:sp>
      <p:sp>
        <p:nvSpPr>
          <p:cNvPr id="15" name="4A-AA-1">
            <a:extLst xmlns:a="http://schemas.openxmlformats.org/drawingml/2006/main">
              <a:ext uri="{FF2B5EF4-FFF2-40B4-BE49-F238E27FC236}">
                <a16:creationId xmlns:a16="http://schemas.microsoft.com/office/drawing/2014/main" id="{46D34BCF-732D-4FF3-92C2-8B322454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HTTP 接口与校验</a:t>
            </a:r>
          </a:p>
        </p:txBody>
      </p:sp>
      <p:sp>
        <p:nvSpPr>
          <p:cNvPr id="16" name="4A-AA-2">
            <a:extLst xmlns:a="http://schemas.openxmlformats.org/drawingml/2006/main">
              <a:ext uri="{FF2B5EF4-FFF2-40B4-BE49-F238E27FC236}">
                <a16:creationId xmlns:a16="http://schemas.microsoft.com/office/drawing/2014/main" id="{36333077-B649-41D6-8A26-607E50D9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956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预约数据存取</a:t>
            </a:r>
          </a:p>
        </p:txBody>
      </p:sp>
      <p:cxnSp>
        <p:nvCxnSpPr>
          <p:cNvPr id="50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095875" y="3257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143875" y="32575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triangle" w="sm" len="sm"/>
          </a:ln>
        </p:spPr>
      </p:cxn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A038A7D-AC51-4349-86C0-31228019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DA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C34A9BC-1C93-4680-ACA9-C1E2C52F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数据架构</a:t>
            </a:r>
          </a:p>
        </p:txBody>
      </p:sp>
      <p:sp>
        <p:nvSpPr>
          <p:cNvPr id="21" name="4A-DA-0">
            <a:extLst xmlns:a="http://schemas.openxmlformats.org/drawingml/2006/main">
              <a:ext uri="{FF2B5EF4-FFF2-40B4-BE49-F238E27FC236}">
                <a16:creationId xmlns:a16="http://schemas.microsoft.com/office/drawing/2014/main" id="{458EAB2A-9B5F-44D2-A234-8D7CFE5C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预约记录</a:t>
            </a:r>
          </a:p>
        </p:txBody>
      </p:sp>
      <p:sp>
        <p:nvSpPr>
          <p:cNvPr id="22" name="4A-DA-1">
            <a:extLst xmlns:a="http://schemas.openxmlformats.org/drawingml/2006/main">
              <a:ext uri="{FF2B5EF4-FFF2-40B4-BE49-F238E27FC236}">
                <a16:creationId xmlns:a16="http://schemas.microsoft.com/office/drawing/2014/main" id="{ACE82CE5-D2F8-443A-9937-28B3C93F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1 对多占用格</a:t>
            </a:r>
          </a:p>
        </p:txBody>
      </p:sp>
      <p:sp>
        <p:nvSpPr>
          <p:cNvPr id="23" name="4A-DA-2">
            <a:extLst xmlns:a="http://schemas.openxmlformats.org/drawingml/2006/main">
              <a:ext uri="{FF2B5EF4-FFF2-40B4-BE49-F238E27FC236}">
                <a16:creationId xmlns:a16="http://schemas.microsoft.com/office/drawing/2014/main" id="{8663676C-1FA8-4409-A1A1-E547F443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9095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同日每格唯一</a:t>
            </a:r>
          </a:p>
        </p:txBody>
      </p:sp>
      <p:cxnSp>
        <p:nvCxnSpPr>
          <p:cNvPr id="57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095875" y="4152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none" w="sm" len="sm"/>
          </a:ln>
        </p:spPr>
      </p:cxnSp>
      <p:cxnSp>
        <p:nvCxnSpPr>
          <p:cNvPr id="58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143875" y="41529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none" w="sm" len="sm"/>
          </a:ln>
        </p:spPr>
      </p:cxn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E3C0512-E0FB-425B-AED5-865B3241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800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TA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56F2660-EF43-47E5-8105-B34AFD3C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技术架构</a:t>
            </a:r>
          </a:p>
        </p:txBody>
      </p:sp>
      <p:sp>
        <p:nvSpPr>
          <p:cNvPr id="28" name="4A-TA-0">
            <a:extLst xmlns:a="http://schemas.openxmlformats.org/drawingml/2006/main">
              <a:ext uri="{FF2B5EF4-FFF2-40B4-BE49-F238E27FC236}">
                <a16:creationId xmlns:a16="http://schemas.microsoft.com/office/drawing/2014/main" id="{C2EB7DBD-52E6-43D3-9327-6ED30909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本机浏览器</a:t>
            </a:r>
          </a:p>
        </p:txBody>
      </p:sp>
      <p:sp>
        <p:nvSpPr>
          <p:cNvPr id="29" name="4A-TA-1">
            <a:extLst xmlns:a="http://schemas.openxmlformats.org/drawingml/2006/main">
              <a:ext uri="{FF2B5EF4-FFF2-40B4-BE49-F238E27FC236}">
                <a16:creationId xmlns:a16="http://schemas.microsoft.com/office/drawing/2014/main" id="{C5C7B1A2-F144-4CEC-9773-A8755872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Python 3 服务</a:t>
            </a:r>
          </a:p>
        </p:txBody>
      </p:sp>
      <p:sp>
        <p:nvSpPr>
          <p:cNvPr id="30" name="4A-TA-2">
            <a:extLst xmlns:a="http://schemas.openxmlformats.org/drawingml/2006/main">
              <a:ext uri="{FF2B5EF4-FFF2-40B4-BE49-F238E27FC236}">
                <a16:creationId xmlns:a16="http://schemas.microsoft.com/office/drawing/2014/main" id="{C1686873-2650-4170-A1AB-0DC07618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2714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C7777"/>
            </a:solidFill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SQLite 文件</a:t>
            </a:r>
          </a:p>
        </p:txBody>
      </p:sp>
      <p:cxnSp>
        <p:nvCxnSpPr>
          <p:cNvPr id="64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095875" y="5048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143875" y="50482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C7777"/>
            </a:solidFill>
            <a:tailEnd type="triangle" w="sm" len="sm"/>
          </a:ln>
        </p:spPr>
      </p:cxnSp>
      <p:sp>
        <p:nvSpPr>
          <p:cNvPr id="33" name="takeaway">
            <a:extLst xmlns:a="http://schemas.openxmlformats.org/drawingml/2006/main">
              <a:ext uri="{FF2B5EF4-FFF2-40B4-BE49-F238E27FC236}">
                <a16:creationId xmlns:a16="http://schemas.microsoft.com/office/drawing/2014/main" id="{F534AF55-F83D-4F29-8E03-8EC8DB54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4A 暂采用 BA、AA、DA、TA 口径，真实项目需核对部门标准</a:t>
            </a:r>
          </a:p>
        </p:txBody>
      </p:sp>
    </p:spTree>
    <p:extLst>
      <p:ext uri="{BB962C8B-B14F-4D97-AF65-F5344CB8AC3E}">
        <p14:creationId xmlns:p14="http://schemas.microsoft.com/office/powerpoint/2010/main" val="20823407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652627-7458-4A4C-A903-B6A7D359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阶段报告：承诺、证据与预测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46DBC304-F684-4AB4-B4A0-6AF50EAD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示范状态卡，所有日期均为演练假设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D2382964-886C-450D-B4C2-02C80D9C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071B90D-F127-409D-BCDC-689832BB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09 / 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787717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报告内容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原承诺与当前批准承诺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周五试用基础功能，审批尚未批准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已验证与剩余工作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逐项引用证据，列出未通过的验收项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最新完成预测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按剩余任务、关键依赖和缓冲重新计算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偏差与待决策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审批待澄清，请决策人选择交付方案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C948A310-EEF4-41A9-9E52-4517A5B1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预测日期与已批准日期分别展示，保留原基线</a:t>
            </a:r>
          </a:p>
        </p:txBody>
      </p:sp>
    </p:spTree>
    <p:extLst>
      <p:ext uri="{BB962C8B-B14F-4D97-AF65-F5344CB8AC3E}">
        <p14:creationId xmlns:p14="http://schemas.microsoft.com/office/powerpoint/2010/main" val="18385655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B62219-3686-4351-B0DA-85CA205E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新增审批的影响分析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BA019BD9-1588-4476-AB5B-466429DD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先澄清规则，再评估返工与计划影响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BDED3A70-FE7F-4745-9BC3-C77B164F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468B25C-3707-46A4-93E5-D15D3C2F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10 / 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7972425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受影响部分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需要补充的工作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业务与验收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谁审批，驳回怎么办，何时占用时段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4A 与实现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身份权限、审批状态、接口及数据变化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验证与交付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权限和状态测试、迁移、演示与材料更新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工期与依赖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关键路径、可并行任务、人员与外部等待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8484CD3E-2B82-41EC-AA40-5D2D888D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新增人日不能直接等同于延期天数</a:t>
            </a:r>
          </a:p>
        </p:txBody>
      </p:sp>
    </p:spTree>
    <p:extLst>
      <p:ext uri="{BB962C8B-B14F-4D97-AF65-F5344CB8AC3E}">
        <p14:creationId xmlns:p14="http://schemas.microsoft.com/office/powerpoint/2010/main" val="12194172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22868C-CC22-4E6F-9B06-86B5666B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合理延期的方案与沟通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B808E177-88F5-49CD-B56D-14A6680A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先说明业务影响，再提出有依据的选择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28A1EE00-E9B0-4B7C-80D0-2CDDA6DB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7FBDD7D-CCC6-4D89-8FFE-E575AFE0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11 / 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1E583F1-382B-4DB2-A6CE-7B3233C9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可选方案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49862C1-F75F-4496-8CCA-5604FF0C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原日期先交基础范围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853AD58-C060-4184-9A3B-930110F2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完整审批范围另定日期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5E8ADA3-964E-4960-8169-3E6E7FB2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分期交付或替换低优先级项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0485C2C-C715-436C-B03A-B150F4B5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增加适合资源并验证有效性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1B849A3-6247-4C58-94AC-39B36613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一段完整说明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3B86F44-258D-4ADF-8D82-140BEF42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原承诺与新增请求是什么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358E05C-4AD6-4744-B604-268D43CF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影响哪些交付及关键依赖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8D4FEA8-26B4-4CCB-8F84-82A973DC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每个方案的范围、预测与风险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1AE467A-0F81-4513-B876-8066DE20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谁需要在何时作出选择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34FFA35F-3262-4B10-BB34-865151F6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授权人确认后更新基线，保留原版本与确认依据</a:t>
            </a:r>
          </a:p>
        </p:txBody>
      </p:sp>
    </p:spTree>
    <p:extLst>
      <p:ext uri="{BB962C8B-B14F-4D97-AF65-F5344CB8AC3E}">
        <p14:creationId xmlns:p14="http://schemas.microsoft.com/office/powerpoint/2010/main" val="17374537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E07D8D-D7FF-46EC-8E97-F52C4878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工具依赖与人员储备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9D02881F-11BA-47F8-996C-16BCAAD0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能力建设需要明确的接管责任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EBCC5691-E1C6-49E0-B875-0BA6EB22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0365FD2-AE35-4DCF-B804-8D009917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12 / 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AD31C8E-C8EA-4086-9212-30760572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工具管理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6208EC9-B9EF-48F7-9A03-4DFBD873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记录工具、模型、版本与成本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B3EB38C-F3E8-46F8-BAFD-02259DB4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说明允许的数据和操作边界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52200FF-DCC2-4B4B-ACD3-CBEAA202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保存任务上下文与可运行代码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FB79D05-C161-4777-AC83-4D99AB0E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演练工具不可用时的接续方式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4C3F82C-2F5E-4CEF-B9B2-B54B3BF9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人员培养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22E90B9-7C9C-48E2-B687-EA80B4A1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业务负责人掌握场景与验收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45BD76A-14B8-4E0E-A363-B0B8672D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技术导师承担架构与关键审查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F1C4ECB-E6DF-4C76-BEF6-7D6B91BF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学员用未讲过的任务证明能力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8EC462E-E06E-46DB-92CD-3BE8F1F3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安排替补，减少单人依赖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7C89C61B-ECCC-45C3-8E08-C1FB9C17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统计审查与返工成本，连同工具成本评估成效</a:t>
            </a:r>
          </a:p>
        </p:txBody>
      </p:sp>
    </p:spTree>
    <p:extLst>
      <p:ext uri="{BB962C8B-B14F-4D97-AF65-F5344CB8AC3E}">
        <p14:creationId xmlns:p14="http://schemas.microsoft.com/office/powerpoint/2010/main" val="3150826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483CC2-3DE7-468A-B868-46C26E62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部署与 DfX 的客户对齐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CFBD5091-4581-4B80-8827-C54C9CB5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本课程只建立清单和验收口径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A8D29622-78F7-4C66-A742-45EBE346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45FB407-4EDD-429C-AD7F-BE6C1A0E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13 / 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305800"/>
              </a:tblGrid>
              <a:tr h="7239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对齐项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需要说清楚的内容</a:t>
                      </a:r>
                    </a:p>
                  </a:txBody>
                  <a:tcPr marL="152400" marR="152400" marT="104775" marB="104775" anchor="ctr">
                    <a:solidFill>
                      <a:srgbClr val="0C777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部署条件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位置、环境、准入、数据连接、就绪日期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交付与运维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发布窗口、监控备份、恢复与责任人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DfX 目标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按场景选择性能、安全、可靠性等目标</a:t>
                      </a:r>
                    </a:p>
                  </a:txBody>
                  <a:tcPr marL="152400" marR="152400" marT="104775" marB="1047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验证与限制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33C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目标阈值、环境、证据、确认人及遗留问题</a:t>
                      </a:r>
                    </a:p>
                  </a:txBody>
                  <a:tcPr marL="152400" marR="152400" marT="104775" marB="104775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92FCE677-056B-4EB6-BE83-C9141CCD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本地练习使用标准库 HTTP 服务，真实部署需另行评审</a:t>
            </a:r>
          </a:p>
        </p:txBody>
      </p:sp>
    </p:spTree>
    <p:extLst>
      <p:ext uri="{BB962C8B-B14F-4D97-AF65-F5344CB8AC3E}">
        <p14:creationId xmlns:p14="http://schemas.microsoft.com/office/powerpoint/2010/main" val="8158106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33E734-EDAC-4AF5-8A51-51778925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主管练习与持续改进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87A17A43-0766-4520-B9C0-DE604D96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产出一项可解释的决策，保留依据</a:t>
            </a:r>
          </a:p>
        </p:txBody>
      </p:sp>
      <p:sp>
        <p:nvSpPr>
          <p:cNvPr id="3" name="footer-audience">
            <a:extLst xmlns:a="http://schemas.openxmlformats.org/drawingml/2006/main">
              <a:ext uri="{FF2B5EF4-FFF2-40B4-BE49-F238E27FC236}">
                <a16:creationId xmlns:a16="http://schemas.microsoft.com/office/drawing/2014/main" id="{C15AD4A8-AF34-4E7F-B31B-EDE7EC3C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主管版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46C55A9-CC3F-4DFE-A3C9-05538F1C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0557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B70"/>
                </a:solidFill>
                <a:latin typeface="Arial Unicode MS"/>
                <a:ea typeface="Arial Unicode MS"/>
                <a:cs typeface="Arial Unicode MS"/>
              </a:rPr>
              <a:t>14 / 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AC983F3-BD59-4148-853C-7E770ECE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课后练习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FA99A77-6ACF-4235-AF81-9AC2E0D3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阅读一份带审批变更的状态报告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64CBAF9-D220-4688-B09D-309257DD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区分实现、验证与客户接受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05D80C6-7990-4CD8-A750-B60B9BA5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比较方案并记录待确认前提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1FE1C0E-4E71-4850-A5A1-6F86B6B3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提出负责人及最晚决策时间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022F7E8-7DB1-44CB-8CCF-0DC53E6D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后续观察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76313AC-00FD-4836-9C5F-EF33BD45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试讲是否解决受众的真实困惑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A8E658F-DBF5-4963-886D-9F9D6A37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新任务能否独立完成并验收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CABB3A9-D6B2-4622-8305-AC0493DF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767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真实项目的周期、缺陷与总成本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09A8167-6A8C-4A24-8C28-B2E9E4C3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62500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17333C"/>
                </a:solidFill>
                <a:latin typeface="Arial Unicode MS"/>
                <a:ea typeface="Arial Unicode MS"/>
                <a:cs typeface="Arial Unicode MS"/>
              </a:rPr>
              <a:t>反馈登记后同步修改相关材料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BDB28280-8553-460B-BCE8-08E5B477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0C7777"/>
                </a:solidFill>
                <a:latin typeface="Arial Unicode MS"/>
                <a:ea typeface="Arial Unicode MS"/>
                <a:cs typeface="Arial Unicode MS"/>
              </a:rPr>
              <a:t>材料可用、学会迁移、客户接受分别验证</a:t>
            </a:r>
          </a:p>
        </p:txBody>
      </p:sp>
    </p:spTree>
    <p:extLst>
      <p:ext uri="{BB962C8B-B14F-4D97-AF65-F5344CB8AC3E}">
        <p14:creationId xmlns:p14="http://schemas.microsoft.com/office/powerpoint/2010/main" val="978220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2026-10-03T05:41:54.9850000Z</dcterms:created>
  <dcterms:modified xsi:type="dcterms:W3CDTF">2026-10-03T05:41:54.9850000Z</dcterms:modified>
</coreProperties>
</file>