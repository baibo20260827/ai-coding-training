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3d499a1e2c441a" /><Relationship Type="http://schemas.openxmlformats.org/officeDocument/2006/relationships/extended-properties" Target="/docProps/app.xml" Id="Re22a10bc5061454f" /><Relationship Type="http://schemas.openxmlformats.org/officeDocument/2006/relationships/officeDocument" Target="/ppt/presentation.xml" Id="R9177c50a10894f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96cc07a4cf4eef"/>
  </p:sldMasterIdLst>
  <p:notesMasterIdLst>
    <p:notesMasterId xmlns:r="http://schemas.openxmlformats.org/officeDocument/2006/relationships" r:id="Reaee6e5809484b34"/>
  </p:notesMasterIdLst>
  <p:sldIdLst>
    <p:sldId xmlns:r="http://schemas.openxmlformats.org/officeDocument/2006/relationships" id="256" r:id="Rf0b25536e2df47d1"/>
    <p:sldId xmlns:r="http://schemas.openxmlformats.org/officeDocument/2006/relationships" id="257" r:id="R59f470e2129941eb"/>
    <p:sldId xmlns:r="http://schemas.openxmlformats.org/officeDocument/2006/relationships" id="258" r:id="R9004775191074ff1"/>
    <p:sldId xmlns:r="http://schemas.openxmlformats.org/officeDocument/2006/relationships" id="259" r:id="Rc1d8b519b2ec4da2"/>
    <p:sldId xmlns:r="http://schemas.openxmlformats.org/officeDocument/2006/relationships" id="260" r:id="R274d75a4dfa44ca7"/>
    <p:sldId xmlns:r="http://schemas.openxmlformats.org/officeDocument/2006/relationships" id="261" r:id="Rc2a708f79e6d4815"/>
    <p:sldId xmlns:r="http://schemas.openxmlformats.org/officeDocument/2006/relationships" id="262" r:id="R5534450cce9d4553"/>
    <p:sldId xmlns:r="http://schemas.openxmlformats.org/officeDocument/2006/relationships" id="263" r:id="R36604a8397974278"/>
    <p:sldId xmlns:r="http://schemas.openxmlformats.org/officeDocument/2006/relationships" id="264" r:id="R97857dceeacd4dc7"/>
    <p:sldId xmlns:r="http://schemas.openxmlformats.org/officeDocument/2006/relationships" id="265" r:id="R7b5b44f543b84456"/>
    <p:sldId xmlns:r="http://schemas.openxmlformats.org/officeDocument/2006/relationships" id="266" r:id="Rbc8f5d0274cd4eae"/>
    <p:sldId xmlns:r="http://schemas.openxmlformats.org/officeDocument/2006/relationships" id="267" r:id="R31a25fdb93604b29"/>
    <p:sldId xmlns:r="http://schemas.openxmlformats.org/officeDocument/2006/relationships" id="268" r:id="Rd82b8278cb41495d"/>
    <p:sldId xmlns:r="http://schemas.openxmlformats.org/officeDocument/2006/relationships" id="269" r:id="R4b6f5b53232045f3"/>
    <p:sldId xmlns:r="http://schemas.openxmlformats.org/officeDocument/2006/relationships" id="270" r:id="R590a5992c29447b9"/>
    <p:sldId xmlns:r="http://schemas.openxmlformats.org/officeDocument/2006/relationships" id="271" r:id="R9ae7d88189e84b17"/>
    <p:sldId xmlns:r="http://schemas.openxmlformats.org/officeDocument/2006/relationships" id="272" r:id="R807331e688f04922"/>
    <p:sldId xmlns:r="http://schemas.openxmlformats.org/officeDocument/2006/relationships" id="273" r:id="Rad4157f054b945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e2523a944d4ad8" /><Relationship Type="http://schemas.openxmlformats.org/officeDocument/2006/relationships/slideMaster" Target="/ppt/slideMasters/slideMaster1.xml" Id="Rc796cc07a4cf4eef" /><Relationship Type="http://schemas.openxmlformats.org/officeDocument/2006/relationships/notesMaster" Target="/ppt/notesMasters/notesMaster1.xml" Id="Reaee6e5809484b34" /><Relationship Type="http://schemas.openxmlformats.org/officeDocument/2006/relationships/presProps" Target="/ppt/presProps.xml" Id="Rb39e4d07a7dd4f6d" /><Relationship Type="http://schemas.openxmlformats.org/officeDocument/2006/relationships/tableStyles" Target="/ppt/tableStyles.xml" Id="Rdc786582d1b647c8" /><Relationship Type="http://schemas.openxmlformats.org/officeDocument/2006/relationships/slide" Target="/ppt/slides/slide1.xml" Id="Rf0b25536e2df47d1" /><Relationship Type="http://schemas.openxmlformats.org/officeDocument/2006/relationships/slide" Target="/ppt/slides/slide2.xml" Id="R59f470e2129941eb" /><Relationship Type="http://schemas.openxmlformats.org/officeDocument/2006/relationships/slide" Target="/ppt/slides/slide3.xml" Id="R9004775191074ff1" /><Relationship Type="http://schemas.openxmlformats.org/officeDocument/2006/relationships/slide" Target="/ppt/slides/slide4.xml" Id="Rc1d8b519b2ec4da2" /><Relationship Type="http://schemas.openxmlformats.org/officeDocument/2006/relationships/slide" Target="/ppt/slides/slide5.xml" Id="R274d75a4dfa44ca7" /><Relationship Type="http://schemas.openxmlformats.org/officeDocument/2006/relationships/slide" Target="/ppt/slides/slide6.xml" Id="Rc2a708f79e6d4815" /><Relationship Type="http://schemas.openxmlformats.org/officeDocument/2006/relationships/slide" Target="/ppt/slides/slide7.xml" Id="R5534450cce9d4553" /><Relationship Type="http://schemas.openxmlformats.org/officeDocument/2006/relationships/slide" Target="/ppt/slides/slide8.xml" Id="R36604a8397974278" /><Relationship Type="http://schemas.openxmlformats.org/officeDocument/2006/relationships/slide" Target="/ppt/slides/slide9.xml" Id="R97857dceeacd4dc7" /><Relationship Type="http://schemas.openxmlformats.org/officeDocument/2006/relationships/slide" Target="/ppt/slides/slide10.xml" Id="R7b5b44f543b84456" /><Relationship Type="http://schemas.openxmlformats.org/officeDocument/2006/relationships/slide" Target="/ppt/slides/slide11.xml" Id="Rbc8f5d0274cd4eae" /><Relationship Type="http://schemas.openxmlformats.org/officeDocument/2006/relationships/slide" Target="/ppt/slides/slide12.xml" Id="R31a25fdb93604b29" /><Relationship Type="http://schemas.openxmlformats.org/officeDocument/2006/relationships/slide" Target="/ppt/slides/slide13.xml" Id="Rd82b8278cb41495d" /><Relationship Type="http://schemas.openxmlformats.org/officeDocument/2006/relationships/slide" Target="/ppt/slides/slide14.xml" Id="R4b6f5b53232045f3" /><Relationship Type="http://schemas.openxmlformats.org/officeDocument/2006/relationships/slide" Target="/ppt/slides/slide15.xml" Id="R590a5992c29447b9" /><Relationship Type="http://schemas.openxmlformats.org/officeDocument/2006/relationships/slide" Target="/ppt/slides/slide16.xml" Id="R9ae7d88189e84b17" /><Relationship Type="http://schemas.openxmlformats.org/officeDocument/2006/relationships/slide" Target="/ppt/slides/slide17.xml" Id="R807331e688f04922" /><Relationship Type="http://schemas.openxmlformats.org/officeDocument/2006/relationships/slide" Target="/ppt/slides/slide18.xml" Id="Rad4157f054b945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2e212b399a41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2fa0a652d94e29" /><Relationship Type="http://schemas.openxmlformats.org/officeDocument/2006/relationships/notesMaster" Target="/ppt/notesMasters/notesMaster1.xml" Id="R75186ad6dcd848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b92e2c61ac4c00" /><Relationship Type="http://schemas.openxmlformats.org/officeDocument/2006/relationships/notesMaster" Target="/ppt/notesMasters/notesMaster1.xml" Id="R82b77985436a4c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42235344484fee" /><Relationship Type="http://schemas.openxmlformats.org/officeDocument/2006/relationships/notesMaster" Target="/ppt/notesMasters/notesMaster1.xml" Id="R119ebaf82f734d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a31f8846e840c1" /><Relationship Type="http://schemas.openxmlformats.org/officeDocument/2006/relationships/notesMaster" Target="/ppt/notesMasters/notesMaster1.xml" Id="Re78eabfa2a9d42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8c4e4ab586453f" /><Relationship Type="http://schemas.openxmlformats.org/officeDocument/2006/relationships/notesMaster" Target="/ppt/notesMasters/notesMaster1.xml" Id="Rf0ed4c6d0f5045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785f52f7e2442f" /><Relationship Type="http://schemas.openxmlformats.org/officeDocument/2006/relationships/notesMaster" Target="/ppt/notesMasters/notesMaster1.xml" Id="R219f9b62cbb44d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b841b7abf444e9" /><Relationship Type="http://schemas.openxmlformats.org/officeDocument/2006/relationships/notesMaster" Target="/ppt/notesMasters/notesMaster1.xml" Id="Rc9582f35b9a641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5f0440a4d642a5" /><Relationship Type="http://schemas.openxmlformats.org/officeDocument/2006/relationships/notesMaster" Target="/ppt/notesMasters/notesMaster1.xml" Id="R349df98e7bc241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099f6a7a124afd" /><Relationship Type="http://schemas.openxmlformats.org/officeDocument/2006/relationships/notesMaster" Target="/ppt/notesMasters/notesMaster1.xml" Id="Re4a1cc8d59894c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504da1bd304dec" /><Relationship Type="http://schemas.openxmlformats.org/officeDocument/2006/relationships/notesMaster" Target="/ppt/notesMasters/notesMaster1.xml" Id="R3604867cb27747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1dafff39504c52" /><Relationship Type="http://schemas.openxmlformats.org/officeDocument/2006/relationships/notesMaster" Target="/ppt/notesMasters/notesMaster1.xml" Id="Ra1ce4f0ea36446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bb30690beb4620" /><Relationship Type="http://schemas.openxmlformats.org/officeDocument/2006/relationships/notesMaster" Target="/ppt/notesMasters/notesMaster1.xml" Id="R7a1fe0fba4ed4e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2055ada6474f49" /><Relationship Type="http://schemas.openxmlformats.org/officeDocument/2006/relationships/notesMaster" Target="/ppt/notesMasters/notesMaster1.xml" Id="R7100f6f53d5a4ce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0214791724484d" /><Relationship Type="http://schemas.openxmlformats.org/officeDocument/2006/relationships/notesMaster" Target="/ppt/notesMasters/notesMaster1.xml" Id="R51eee61f884d4d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58b8addb1a54a89" /><Relationship Type="http://schemas.openxmlformats.org/officeDocument/2006/relationships/notesMaster" Target="/ppt/notesMasters/notesMaster1.xml" Id="Raee07bee54b94c8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4b3bb5985b4b26" /><Relationship Type="http://schemas.openxmlformats.org/officeDocument/2006/relationships/notesMaster" Target="/ppt/notesMasters/notesMaster1.xml" Id="Rea9f858e566648a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e9f4c347e264206" /><Relationship Type="http://schemas.openxmlformats.org/officeDocument/2006/relationships/notesMaster" Target="/ppt/notesMasters/notesMaster1.xml" Id="R06758568a2d14e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cd80fcf04c744d9" /><Relationship Type="http://schemas.openxmlformats.org/officeDocument/2006/relationships/notesMaster" Target="/ppt/notesMasters/notesMaster1.xml" Id="Rca84f2e0f8744e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页：AI Coding 从想法到验收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这份材料从用户、输入、规则、数据和结果解释一个小软件。自学顺序：第 2—4 页了解失败案例，第 5—8 页认识需求与软件组成，第 9—12 页独立运行并检查应用，第 13—18 页练习任务说明、问题报告与自检，并按需尝试进阶小变更。阅读补充说明在 beginner-notes.md。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成证明：一张场景卡、一组正常与异常验收，以及真实操作结果。小变更属于进阶；可先完成需求与验收设计，实现尚未进行时明确标为未完成。先在本地合成数据上练习，无法确定代码或数据影响时，保留问题并请求技术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页：主管的小失败：周五还能交付吗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虚构学习情境。原约定是周五试用查看、预约和取消。新增审批引入了审批人、驳回处理、待审批记录可见范围等未确认事项。页面已能操作，只能说明部分实现已完成，不能据此判断新增范围可以按原日期交付。一次试用因此暂缓，团队需要重新核对范围和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自行判断：新增审批属于原范围缺陷，还是新需求？在承诺日期之前至少需要哪些证据？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自检：审批是新需求。基础功能是否合格要单独验收。决策需要原范围与验收状态、新增规则、受影响任务、依赖、日期预测及可选方案。本故事没有实际估算数据，不能据此给出具体延期天数。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页：工程师的小失败：测试绿了，规则错了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这是虚构的错误修改情境。相邻预约误判修复后，重叠预约也被允许。测试变绿，是因为错误修改同时改变了测试预期。工程师暂缓合并，故障尚未交给真实用户。关键问题在于测试是否仍对应已确认业务规则。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自行判断：已有 10:00—11:00，接着预约 11:00—12:00 应当允许。改为 10:30—11:30 应当拒绝。不要先阅读实现，先写下这两个独立预期，再查看测试差异。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自检：能说明预期来自业务规则，并指出测试预期变化需要什么需求依据。该情境不代表每次 AI 修改都会发生同样问题。故障脚本与正确实现的比较见工程师材料。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页：新手的小失败：刷新后，预约不见了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这是虚构学习情境。页面能够接收输入并显示预约，但刷新后记录消失。故事预设记录只保存在页面内存，真实项目出现同样现象时仍需先复现、再排查，不能直接套用这个原因。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自行写出三项验收：提交后刷新仍能看到预约，同一日期重叠时段不能重复预约，取消后原时段重新可用。随后把软件拆成输入、规则、数据和结果，说明每项验收涉及哪些部分。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自检：能用操作步骤、预期与实际描述一个问题，而不是只说不好用。页面完成不等于整个预约流程可靠。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页：一个软件里发生了什么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个预约操作由页面、接口、规则和数据共同完成。页面接收日期与时间，接口把操作送给程序，程序检查格式与冲突，数据层保存预约。页面显示成功是结果之一，但刷新后仍能看到记录，需要从已保存的数据重新读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动手：用自己的话写出从点击预约到列表显示之间的过程，给每一步标出输入与输出。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自检：如果只做了页面，哪项行为无法保证？答案应包含持久化或冲突检查等页面之外的职责。无需先背编程语法，先能解释行为。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页：一张客户场景卡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场景卡把模糊想法变成可操作需求：谁使用、想完成什么、输入什么、应该看到什么。教学边界是一间会议室、09:00—18:00、半小时边界、每次预约不跨日期。本地例子无登录与审批。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动手：为你想做的另一个小工具填写这四项，再写出一项暂不做的功能和一项异常情况。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自检：读者是否能照着描述进行操作并判断成功？真实业务负责人和验收人需要明确，尚未确认的内容写为假设。单日不等于只能预约今天。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页：我能亲手检查的验收例子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验收比较预期与实际。先把正常、冲突、取消和保存的预期写下来，再操作应用。每项记录输入、步骤、结果和证据。界面看起来正常不足以证明全部行为可靠。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动手：建立一份自己的验收记录，逐项执行 A02、A03、A04、A05。保持相同日期和应用实例，避免查错日期。未运行的项写未执行。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自检：刷新和服务重启要分别验证。业务操作可以独立检查，并发、数据安全和真实发布等技术判断应请求合适人员复核。自动脚本也需要与用户关心的行为对应。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页：4A：从四个角度看小工具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 回答谁做什么及业务规则，AA 回答程序怎样分工，DA 回答保存哪些数据与关系，TA 回答在哪里运行及依赖什么。图中一条预约对应多个半小时占用格，同日每格只能被占用一次，取消时释放这些格。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动手：沿图解释一次预约：页面提交，程序检查，数据库保存，返回结果。再指出刷新后需要哪一部分取回记录。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自检：能否把查看空闲、页面、预约记录和 Python 服务分别对应到适合的视图？四类视图帮助理解同一系统，不要求记住所有代码。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architecture: https://help.opengroup.org/hc/en-us/articles/32115987894930-How-the-ArchiMate-Language-and-the-TOGAF-Standard-Complement-Each-Other</a:t>
            </a:r>
          </a:p>
          <a:p xmlns:a="http://schemas.openxmlformats.org/drawingml/2006/main">
            <a:r>
              <a:t>sqlite: https://docs.python.org/3/library/sqlite3.html</a:t>
            </a:r>
          </a:p>
          <a:p xmlns:a="http://schemas.openxmlformats.org/drawingml/2006/main">
            <a:r>
              <a:t>http: https://docs.python.org/3/library/http.server.html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页：第一次启动本地工具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先确认有可用的 Python 3，且包含 sqlite3。项目根目录就是 README 所在目录。在终端执行启动命令并保持它运行，再打开本机地址。127.0.0.1 指自己的电脑，另一台电脑的同一地址不是你的程序。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动手：运行命令并打开页面，仅使用虚构预约信息。如果报错，保存完整命令、所在目录和错误文字，按 demo/README.md 或 FAQ 排查。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自检：能看到本地页面，终端仍在运行，访问地址正确。端口冲突或缺少 Python 时应依据错误处理，不连续盲改文件。示例不要开放到外部网络。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http: https://docs.python.org/3/library/http.server.html</a:t>
            </a:r>
          </a:p>
          <a:p xmlns:a="http://schemas.openxmlformats.org/drawingml/2006/main">
            <a:r>
              <a:t>sqlite: https://docs.python.org/3/library/sqlite3.html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页：一次成功预约与刷新检查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选择没有预约的教学日期，建立 10:00—11:00 的预约，使用虚构姓名和用途。检查成功提示、列表日期和时段，然后刷新并查看同一日期。刷新成功后，再验证停止和重启服务后的记录。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动手：把一次完整操作记入验收表，包括日期、输入、步骤、预期与实际。停止服务可在运行终端使用 Ctrl+C，再执行相同启动命令。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自检：记录在刷新和重启后都存在。若查不到，先核对日期、地址与数据库位置，不直接断定数据已丢失。更多操作见 demo/WALKTHROUGH.md。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页：相邻可以，重叠不可以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两个例子都在同一日期。已有预约结束于 11:00，下一条从 11:00 开始，两者相邻，可以共存。从 10:30 到 11:30 则与已有预约重叠，应拒绝。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动手：分别执行这两种输入，记录结果。每个例子开始前核对现有记录，避免前一个测试生成的数据影响后一个。随后取消自己建立的原预约，再验证原时段可用。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自检：相邻成功、重叠拒绝、取消释放。结果不符时保留最短复现，先理解问题再继续叠加数据。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页：出现问题时的求助说明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有用的问题报告包含操作、预期、实际和环境。例如在某目录运行启动命令，终端出现某错误，浏览器访问某地址未打开。这样的记录比打不开更容易排查。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动手：把一个遇到的问题写成可复现说明，附必要错误文字。使用前检查记录是否包含真实个人信息或凭据，练习优先合成数据。每次只尝试一个有依据的排查步骤，并记录变化。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自检：另一个人能否照步骤复现，并知道你想得到什么结果？涉及不确定的数据删除、权限或对外部署时，请相应负责人判断。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页：一个可用的 AI 任务说明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任务说明写清场景、范围、验收和过程。本页例子只调整输入提示，预约业务规则仍然保留。可以先让 AI 解释理解、涉及文件和检查计划，再查看实际修改与输出。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动手：选择一条不清楚的提示，写出希望出现的具体文字和触发条件。修改后操作该错误输入，并检查原正常流程。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自检：验收能否实际观察？任务说明是否避免只有好用、智能等模糊词？AGENTS.md 提供长期约定，当前任务仍要具体。不能因为 AI 说完成就略过操作和差异检查。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agents: https://learn.chatgpt.com/docs/agent-configuration/agents-md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页：进阶练习：午休时段不可预约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新手可先只完成需求与验收设计；进阶实现按 training/exercises.md 的 L4，在独立练习副本和隔离空库中操作。未修改代码时，实现状态仍标为未完成，并注明已完成的是需求部分。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新增练习假设午休为 12:00—13:00，只要预约与午休重叠就拒绝。11:00—12:00 和 13:00—14:00 仍允许。基线应用尚未实现此规则。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动手：先写验收。除两端相邻外，还检查 12:00—12:30、11:30—12:30、12:30—13:30 和 11:30—13:30。选择进阶实现时，再让 AI 说明计划，小范围修改并核对差异与实际结果；不删除、迁移或重写已有记录。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只检查开始时间在午休内是不够的。回归原检查时，若原合法输入因新业务规则失效，应保留检查目的，调整输入并说明需求依据。旧预约如何处理仍待业务确认。注明是否获得实现或技术检查协助；完成自己的方案后再阅读参考解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页：新要求：增加主管审批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新增审批可能改变身份、权限、状态、通知、占用规则和旧数据处理。它目前只是变更练习。一个页面按钮生成得快，不能直接说明完整交付工作量小。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动手：写出审批人、待审批占用、驳回处理和旧预约四项需要确认的问题。比较原范围先交与审批分期交付，并列出影响范围。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自检：是否保留原承诺和新预测，是否把未确认内容标明？实际工期要考虑依赖与可并行工作，对外日期需要有权限的人确认。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页：交付前需要与客户说清的事项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部署是把程序放入约定环境并负责运行。DfX 在这里指预先规划性能、安全、可靠性、维护和运维等适用质量要求。初学者不必立即选复杂技术，但需要知道哪些问题要找谁确认。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动手：为自己的练习写出运行位置、数据范围、验收方法、备份恢复和责任人。未知项列为待确认。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自检：本机运行不代表已经具备生产条件。本例无登录，采用标准库 HTTP，真实部署需要额外设计与验证，Python 官方也不推荐 http.server 作为生产服务。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http: https://docs.python.org/3/library/http.server.html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页：交付状态与工具求助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进度记录说明本次范围、已经完成的操作和证据、未通过项、阻塞及下一步。例如午休变更已完成代码，边界检查仍有一项失败，旧预约处理规则待确认。这样的状态比主体做好了更有用。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动手：为当前练习写四句话状态说明。业务规则问题交给需求或验收负责人，代码、数据和发布影响请求技术复核。工具不可用时先保存文件和记录。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自检：实现、验证、客户接受是否分别记录？有对外日期时，批准承诺与预测应分开，不能自己改承诺。替代工具仍需符合组织数据与权限要求。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页：完成证明与下一次改进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基础完成证明包括一张场景与验收卡、正常与异常操作结果，以及一份问题或交接记录。小变更属于进阶任务；尚未修改代码时，记录已完成的需求与验收设计，实现标为未完成。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动手：选择 training/exercises.md 中适合自己的任务，先独立写需求和验收。选择进阶实现时，按 L4 在独立副本与隔离空库操作，按需要请求技术复核，并注明协助范围。完成后对照解析，记录差异及原因。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否用操作验证预期，展示真实结果，识别边界，并在失败时提供可复现信息？进阶实现还需要说明修改影响与验证证据。把具体困惑加入问题记录，在下一项任务中检查是否改善。材料可阅读不代表已经形成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d086934564f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f79e69dc82429b" /><Relationship Type="http://schemas.openxmlformats.org/officeDocument/2006/relationships/slideLayout" Target="/ppt/slideLayouts/slideLayout1.xml" Id="Re245c41d09ad41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45c41d09ad41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ba8d1c4b24df8" /><Relationship Type="http://schemas.openxmlformats.org/officeDocument/2006/relationships/notesSlide" Target="/ppt/notesSlides/notesSlide1.xml" Id="Rf65e5fd2c70e47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74fc797ee4bc9" /><Relationship Type="http://schemas.openxmlformats.org/officeDocument/2006/relationships/notesSlide" Target="/ppt/notesSlides/notesSlide2.xml" Id="R5aec2867929743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17a8ac6d74191" /><Relationship Type="http://schemas.openxmlformats.org/officeDocument/2006/relationships/notesSlide" Target="/ppt/notesSlides/notesSlide3.xml" Id="Re9c5baa192a542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71be3f84e449e" /><Relationship Type="http://schemas.openxmlformats.org/officeDocument/2006/relationships/notesSlide" Target="/ppt/notesSlides/notesSlide4.xml" Id="Rb91c8ae1b5a648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4d76700c8402a" /><Relationship Type="http://schemas.openxmlformats.org/officeDocument/2006/relationships/notesSlide" Target="/ppt/notesSlides/notesSlide5.xml" Id="R42f161a90dca44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3f31bc1d541eb" /><Relationship Type="http://schemas.openxmlformats.org/officeDocument/2006/relationships/notesSlide" Target="/ppt/notesSlides/notesSlide6.xml" Id="Rdac1390920414a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796bdc5f34b12" /><Relationship Type="http://schemas.openxmlformats.org/officeDocument/2006/relationships/notesSlide" Target="/ppt/notesSlides/notesSlide7.xml" Id="Red25a6354c354b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ef8c19bd04da3" /><Relationship Type="http://schemas.openxmlformats.org/officeDocument/2006/relationships/notesSlide" Target="/ppt/notesSlides/notesSlide8.xml" Id="R19a4167dea1245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8552837984905" /><Relationship Type="http://schemas.openxmlformats.org/officeDocument/2006/relationships/notesSlide" Target="/ppt/notesSlides/notesSlide9.xml" Id="Rf54aa9320ed94e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a0513b52a4554" /><Relationship Type="http://schemas.openxmlformats.org/officeDocument/2006/relationships/notesSlide" Target="/ppt/notesSlides/notesSlide10.xml" Id="R21b45509d6c443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2a7b50c0946e9" /><Relationship Type="http://schemas.openxmlformats.org/officeDocument/2006/relationships/notesSlide" Target="/ppt/notesSlides/notesSlide11.xml" Id="R674f2077316b4f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d86fa73064272" /><Relationship Type="http://schemas.openxmlformats.org/officeDocument/2006/relationships/notesSlide" Target="/ppt/notesSlides/notesSlide12.xml" Id="R48669d4f166d40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55ee4d7004602" /><Relationship Type="http://schemas.openxmlformats.org/officeDocument/2006/relationships/notesSlide" Target="/ppt/notesSlides/notesSlide13.xml" Id="R202a0ca36e2842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0734d18554944" /><Relationship Type="http://schemas.openxmlformats.org/officeDocument/2006/relationships/notesSlide" Target="/ppt/notesSlides/notesSlide14.xml" Id="Rfd5bb793e69448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55dcf2c2243bf" /><Relationship Type="http://schemas.openxmlformats.org/officeDocument/2006/relationships/notesSlide" Target="/ppt/notesSlides/notesSlide15.xml" Id="R5ad2f5aa9c2149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d407d6f194180" /><Relationship Type="http://schemas.openxmlformats.org/officeDocument/2006/relationships/notesSlide" Target="/ppt/notesSlides/notesSlide16.xml" Id="R1489c74a7cc142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4888971694195" /><Relationship Type="http://schemas.openxmlformats.org/officeDocument/2006/relationships/notesSlide" Target="/ppt/notesSlides/notesSlide17.xml" Id="Raeb876b5f1f44c2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a18c5ade3463a" /><Relationship Type="http://schemas.openxmlformats.org/officeDocument/2006/relationships/notesSlide" Target="/ppt/notesSlides/notesSlide18.xml" Id="R93ab5f61fa944e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5712321-3236-469B-82B2-49F471C7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零基础自学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CED5E0F-8231-4AE1-8898-24760FF4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858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AI Coding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从想法到验收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8B0969D-14E9-4310-976B-6524D660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rPr>
              <a:t>做出一个能解释、能检查的本地小工具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4675752-9E87-4373-8448-5B504EFD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软件工程 Harness 能力建设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11427CB-9812-4672-A19D-F3B2F0AC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076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1756592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500CE6-26D0-4FA4-B500-1541A432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主管的小失败：周五还能交付吗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993C2802-1284-414F-837A-536A5477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CA2ADC0-51CA-4E52-B1A6-38E13A65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02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804EA6E-6730-4A4D-BBA2-771E88D3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承诺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0D07D2B-4932-437C-AE77-0B619590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“审批也一起加上，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还是周五给客户。”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5E4112D-70D4-4BFF-BB85-F3937504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C3E7640-7BE0-424F-A049-52E07AEF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基础预约按原计划试用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EF29F66-E96B-4611-AA5A-BD6DD15E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AA75788-02B4-4FBE-895D-2E34541C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看到页面后，承诺同日增加审批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7D8D98F-0ACE-4603-BF1F-612B02D7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CD5F652-8399-4390-B0F4-1F9838F5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审批规则未定，试用暂缓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AEF7C99-365C-4A62-B16A-3F70D48B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第一步：核对原范围、验收状态与新增影响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3CB7886-6A06-41C8-82DD-0EEC5A8B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虚构学习情境</a:t>
            </a:r>
          </a:p>
        </p:txBody>
      </p:sp>
    </p:spTree>
    <p:extLst>
      <p:ext uri="{BB962C8B-B14F-4D97-AF65-F5344CB8AC3E}">
        <p14:creationId xmlns:p14="http://schemas.microsoft.com/office/powerpoint/2010/main" val="1693743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CF9167-E8B9-40AB-8D22-1B752D66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工程师的小失败：测试绿了，规则错了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C37776A1-6971-4954-9A31-B086DD0E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35FC1FF-00DB-4DBC-8D9B-EDD88707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D16DB21-7A42-40B2-94E6-08939642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验证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198882E-F253-4B2A-A0D1-8CC40F91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“相邻预约修好了。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但重叠预约也成功了。”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4FBD994-6954-408D-9211-BA854B73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E58EA7E-154E-47EA-818F-604A8BC5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11:00 接着 10:00—11:00，可以预约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B68D5C7-92B2-4B1C-986F-D02E06C0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E77F4C6-102A-434F-81AB-B070CC83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AI 同时修改逻辑与测试预期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A3C436B-2338-4AC2-A70D-65CCBEFE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0FF4A09-0160-4E59-8790-EB99B4ED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10:30—11:30 也能提交，暂缓合并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95B8477-BBB5-463E-8979-02E78A63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第一步：依据业务例子，独立核对测试预期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D7CED32-34FD-4C19-8740-36A3821F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虚构学习情境</a:t>
            </a:r>
          </a:p>
        </p:txBody>
      </p:sp>
    </p:spTree>
    <p:extLst>
      <p:ext uri="{BB962C8B-B14F-4D97-AF65-F5344CB8AC3E}">
        <p14:creationId xmlns:p14="http://schemas.microsoft.com/office/powerpoint/2010/main" val="20258298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07C1CD-0B41-4F31-BBB9-9A1208B4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新手的小失败：刷新后，预约不见了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712D3CA7-396D-4457-8263-C9B96E53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55FD35E-D815-41EA-B8F7-0BAFA61D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A388084-6EBB-442F-8484-655143AD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起步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FDE211C-67F5-4BF9-8987-8E877BA3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“页面已经做好了，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先别刷新。”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09D399F-DDFD-4601-96CB-2037BA84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A8DD22-AC00-473D-838D-FE89E61D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做一个好用的预约工具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6F2FD93-E6B5-4A46-909D-A2AF6FC3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D190C90-23E5-4E36-9E89-62A94AB5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只描述想要的页面与按钮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36B57FE-8500-4256-992B-122913CF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3EBFF1D-8069-46E8-BB25-0EBF894F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刷新丢记录，不知怎样描述问题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CBEDDD0-207C-4C99-8121-50CF2320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第一步：写下可操作、可复查的验收例子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E58CFE4-EDFF-46C9-9AC3-218277E4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虚构学习情境</a:t>
            </a:r>
          </a:p>
        </p:txBody>
      </p:sp>
    </p:spTree>
    <p:extLst>
      <p:ext uri="{BB962C8B-B14F-4D97-AF65-F5344CB8AC3E}">
        <p14:creationId xmlns:p14="http://schemas.microsoft.com/office/powerpoint/2010/main" val="15482911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0A0EEE-E794-46FF-BE1C-602DED70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一个软件里发生了什么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C1F79D47-0707-427E-8CC4-5A6571D6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点击预约后，页面之外还有工作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549DC03A-BB71-416C-8F65-C41607EC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1BD7258-40AA-4C4E-BE59-99A57C4B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E590F51-AFA1-4695-BFFA-0D669B5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页面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0D38806-3512-442D-85C0-87D73671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收集日期、时间与预约信息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9FBFF20-A6E2-495E-90D2-44F78C12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接口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5C8BC88-A74F-46CA-9CC2-C3930B94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把操作发给运行中的程序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2AEFBC5-72C9-43D7-A91A-7FD98BF4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规则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29A3F2C-C8F9-4AB6-8F16-6C16DC57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判断时间是否有效、是否冲突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9A9C4DF-2CB2-480A-8175-FE27A51F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数据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D36B1CD-3C6F-4FD6-9703-6B910653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保存预约，供下次查看与取消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DCB67AFB-E2F2-4BE5-95AD-E745815B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刷新后仍有记录，需要程序读取已经保存的数据</a:t>
            </a:r>
          </a:p>
        </p:txBody>
      </p:sp>
    </p:spTree>
    <p:extLst>
      <p:ext uri="{BB962C8B-B14F-4D97-AF65-F5344CB8AC3E}">
        <p14:creationId xmlns:p14="http://schemas.microsoft.com/office/powerpoint/2010/main" val="3407601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1AB2E7-3362-49F9-A1F5-C27B1118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一张客户场景卡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4CD4A592-F126-417E-B7F3-3509112F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把“做个好用的系统”变成一件可检查的事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93483EB5-409B-41B7-A9EE-18304DCA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15524A9-704A-4528-824C-2867C14B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9A021B2-8681-491F-AE0C-979827E7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四个问题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3F7CE61-CEB8-4D79-BB04-AF6274C5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谁要使用：部门同事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3E7ED22-9E4D-48D9-8F7F-B24D5CD0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想完成什么：找到空闲时段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0968AA1-D735-45B9-9A04-5F52E8F7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输入什么：日期与开始结束时间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52F9D79-0B1E-4729-A4A2-01C0C404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看到什么：预约成功或清楚拒绝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738907C-490D-4BBC-AF8E-603FC7C9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练习边界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3F616CE-81BC-4201-B2A1-6240891C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一间会议室，09:00—18:00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9BD2F62-C39B-4880-A611-28052803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时间只能落在半小时边界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CC5F91C-665E-4609-AC47-39F103C4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每次预约在同一日期内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5EC04F7-F9FF-4875-9C2C-2645B582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本地练习，无登录与审批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CE576B69-CEC5-40CA-BB3F-1C916ECE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业务负责人指定验收人，真实客户要求需单独确认</a:t>
            </a:r>
          </a:p>
        </p:txBody>
      </p:sp>
    </p:spTree>
    <p:extLst>
      <p:ext uri="{BB962C8B-B14F-4D97-AF65-F5344CB8AC3E}">
        <p14:creationId xmlns:p14="http://schemas.microsoft.com/office/powerpoint/2010/main" val="4428857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39B740-4B2E-47A1-A9E3-A4C7E4DD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我能亲手检查的验收例子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5D9BDC60-3A5F-4327-B773-6C096A26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先写预期，再运行应用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7DFA8CB8-3A51-43EF-AA96-8EFCEFCF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6134B99-1EE2-4F66-8346-DB5DA763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476750"/>
                <a:gridCol w="449580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我的操作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应该发生什么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A02 建立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提交一个有效预约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显示成功，并出现在列表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A03 冲突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对同一时段再次预约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拒绝，说明时间冲突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A04 取消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取消后再约原时段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原时段重新可用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A05 保存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刷新页面并重启服务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预约记录仍然存在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26EF9BEB-56B0-4B02-934C-7699BF85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验收记录写实际结果，遇到不同结果就保留问题</a:t>
            </a:r>
          </a:p>
        </p:txBody>
      </p:sp>
    </p:spTree>
    <p:extLst>
      <p:ext uri="{BB962C8B-B14F-4D97-AF65-F5344CB8AC3E}">
        <p14:creationId xmlns:p14="http://schemas.microsoft.com/office/powerpoint/2010/main" val="15807599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BB2F7C-0B37-456B-A0C8-20AD59D0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4A：从四个角度看小工具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072BC66F-0340-4820-9674-EA8B8198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E7BEBAB-CFA9-4B6B-B108-DC75AB67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08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B211EBA-3852-421E-9321-569BC171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同一需求映射到流程、职责、数据和运行环境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8E8120-58EE-443E-A059-A30C1721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BA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6F05698-987F-46D4-96AB-05DCC0EF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业务架构</a:t>
            </a:r>
          </a:p>
        </p:txBody>
      </p:sp>
      <p:sp>
        <p:nvSpPr>
          <p:cNvPr id="7" name="4A-BA-0">
            <a:extLst xmlns:a="http://schemas.openxmlformats.org/drawingml/2006/main">
              <a:ext uri="{FF2B5EF4-FFF2-40B4-BE49-F238E27FC236}">
                <a16:creationId xmlns:a16="http://schemas.microsoft.com/office/drawing/2014/main" id="{8EA6718F-ED57-4F3C-A8E5-2CA765D0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查看空闲</a:t>
            </a:r>
          </a:p>
        </p:txBody>
      </p:sp>
      <p:sp>
        <p:nvSpPr>
          <p:cNvPr id="8" name="4A-BA-1">
            <a:extLst xmlns:a="http://schemas.openxmlformats.org/drawingml/2006/main">
              <a:ext uri="{FF2B5EF4-FFF2-40B4-BE49-F238E27FC236}">
                <a16:creationId xmlns:a16="http://schemas.microsoft.com/office/drawing/2014/main" id="{44A9D842-F795-4DB5-ADD0-4B2B3465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提交预约 / 取消</a:t>
            </a:r>
          </a:p>
        </p:txBody>
      </p:sp>
      <p:sp>
        <p:nvSpPr>
          <p:cNvPr id="9" name="4A-BA-2">
            <a:extLst xmlns:a="http://schemas.openxmlformats.org/drawingml/2006/main">
              <a:ext uri="{FF2B5EF4-FFF2-40B4-BE49-F238E27FC236}">
                <a16:creationId xmlns:a16="http://schemas.microsoft.com/office/drawing/2014/main" id="{60BAE5A3-0026-40B5-839E-4CD0497A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结果提示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95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143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0F3B74C-7FCD-4CB5-80E4-61C99E26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AA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C606406-5CE2-4EF0-87B4-1B4E4462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应用架构</a:t>
            </a:r>
          </a:p>
        </p:txBody>
      </p:sp>
      <p:sp>
        <p:nvSpPr>
          <p:cNvPr id="14" name="4A-AA-0">
            <a:extLst xmlns:a="http://schemas.openxmlformats.org/drawingml/2006/main">
              <a:ext uri="{FF2B5EF4-FFF2-40B4-BE49-F238E27FC236}">
                <a16:creationId xmlns:a16="http://schemas.microsoft.com/office/drawing/2014/main" id="{AA9C33CC-2FE1-47B2-B99D-27CC1761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原生页面</a:t>
            </a:r>
          </a:p>
        </p:txBody>
      </p:sp>
      <p:sp>
        <p:nvSpPr>
          <p:cNvPr id="15" name="4A-AA-1">
            <a:extLst xmlns:a="http://schemas.openxmlformats.org/drawingml/2006/main">
              <a:ext uri="{FF2B5EF4-FFF2-40B4-BE49-F238E27FC236}">
                <a16:creationId xmlns:a16="http://schemas.microsoft.com/office/drawing/2014/main" id="{B777BF30-F968-47D3-A1F8-7C0452A0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HTTP 接口与校验</a:t>
            </a:r>
          </a:p>
        </p:txBody>
      </p:sp>
      <p:sp>
        <p:nvSpPr>
          <p:cNvPr id="16" name="4A-AA-2">
            <a:extLst xmlns:a="http://schemas.openxmlformats.org/drawingml/2006/main">
              <a:ext uri="{FF2B5EF4-FFF2-40B4-BE49-F238E27FC236}">
                <a16:creationId xmlns:a16="http://schemas.microsoft.com/office/drawing/2014/main" id="{7A1BCEDB-79CD-481D-9BD2-305B06BC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预约数据存取</a:t>
            </a:r>
          </a:p>
        </p:txBody>
      </p: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095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143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160A7A6-C863-48AC-BEBA-03BFF334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DA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AD15365-9605-44B1-9E7B-E0E04232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数据架构</a:t>
            </a:r>
          </a:p>
        </p:txBody>
      </p:sp>
      <p:sp>
        <p:nvSpPr>
          <p:cNvPr id="21" name="4A-DA-0">
            <a:extLst xmlns:a="http://schemas.openxmlformats.org/drawingml/2006/main">
              <a:ext uri="{FF2B5EF4-FFF2-40B4-BE49-F238E27FC236}">
                <a16:creationId xmlns:a16="http://schemas.microsoft.com/office/drawing/2014/main" id="{0845FEB1-667C-42DA-9ADD-EE162345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预约记录</a:t>
            </a:r>
          </a:p>
        </p:txBody>
      </p:sp>
      <p:sp>
        <p:nvSpPr>
          <p:cNvPr id="22" name="4A-DA-1">
            <a:extLst xmlns:a="http://schemas.openxmlformats.org/drawingml/2006/main">
              <a:ext uri="{FF2B5EF4-FFF2-40B4-BE49-F238E27FC236}">
                <a16:creationId xmlns:a16="http://schemas.microsoft.com/office/drawing/2014/main" id="{E498F6FA-34BC-4A25-893D-CF655FD2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 对多占用格</a:t>
            </a:r>
          </a:p>
        </p:txBody>
      </p:sp>
      <p:sp>
        <p:nvSpPr>
          <p:cNvPr id="23" name="4A-DA-2">
            <a:extLst xmlns:a="http://schemas.openxmlformats.org/drawingml/2006/main">
              <a:ext uri="{FF2B5EF4-FFF2-40B4-BE49-F238E27FC236}">
                <a16:creationId xmlns:a16="http://schemas.microsoft.com/office/drawing/2014/main" id="{6F8E30A5-D282-4500-A016-F27823AF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同日每格唯一</a:t>
            </a:r>
          </a:p>
        </p:txBody>
      </p:sp>
      <p:cxnSp>
        <p:nvCxnSpPr>
          <p:cNvPr id="5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095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none" w="sm" len="sm"/>
          </a:ln>
        </p:spPr>
      </p:cxnSp>
      <p:cxnSp>
        <p:nvCxnSpPr>
          <p:cNvPr id="58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143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none" w="sm" len="sm"/>
          </a:ln>
        </p:spPr>
      </p:cxn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1865D06-73EC-47FF-A89A-24639E73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TA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5AD29A0-C579-4BE9-BD93-71B8A467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技术架构</a:t>
            </a:r>
          </a:p>
        </p:txBody>
      </p:sp>
      <p:sp>
        <p:nvSpPr>
          <p:cNvPr id="28" name="4A-TA-0">
            <a:extLst xmlns:a="http://schemas.openxmlformats.org/drawingml/2006/main">
              <a:ext uri="{FF2B5EF4-FFF2-40B4-BE49-F238E27FC236}">
                <a16:creationId xmlns:a16="http://schemas.microsoft.com/office/drawing/2014/main" id="{CC14D883-176C-46DE-8EE8-B0D325E4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本机浏览器</a:t>
            </a:r>
          </a:p>
        </p:txBody>
      </p:sp>
      <p:sp>
        <p:nvSpPr>
          <p:cNvPr id="29" name="4A-TA-1">
            <a:extLst xmlns:a="http://schemas.openxmlformats.org/drawingml/2006/main">
              <a:ext uri="{FF2B5EF4-FFF2-40B4-BE49-F238E27FC236}">
                <a16:creationId xmlns:a16="http://schemas.microsoft.com/office/drawing/2014/main" id="{D897BFB0-D366-444D-8250-30E79FAB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 3 服务</a:t>
            </a:r>
          </a:p>
        </p:txBody>
      </p:sp>
      <p:sp>
        <p:nvSpPr>
          <p:cNvPr id="30" name="4A-TA-2">
            <a:extLst xmlns:a="http://schemas.openxmlformats.org/drawingml/2006/main">
              <a:ext uri="{FF2B5EF4-FFF2-40B4-BE49-F238E27FC236}">
                <a16:creationId xmlns:a16="http://schemas.microsoft.com/office/drawing/2014/main" id="{C3F8FDA0-65C0-49B4-A69B-A025BFCE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SQLite 文件</a:t>
            </a:r>
          </a:p>
        </p:txBody>
      </p:sp>
      <p:cxnSp>
        <p:nvCxnSpPr>
          <p:cNvPr id="64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095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143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sp>
        <p:nvSpPr>
          <p:cNvPr id="33" name="takeaway">
            <a:extLst xmlns:a="http://schemas.openxmlformats.org/drawingml/2006/main">
              <a:ext uri="{FF2B5EF4-FFF2-40B4-BE49-F238E27FC236}">
                <a16:creationId xmlns:a16="http://schemas.microsoft.com/office/drawing/2014/main" id="{A1A077F7-39EE-4483-ACA5-3AF49A78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业务怎样办、程序怎样分工、数据怎样存、技术怎样运行</a:t>
            </a:r>
          </a:p>
        </p:txBody>
      </p:sp>
    </p:spTree>
    <p:extLst>
      <p:ext uri="{BB962C8B-B14F-4D97-AF65-F5344CB8AC3E}">
        <p14:creationId xmlns:p14="http://schemas.microsoft.com/office/powerpoint/2010/main" val="12753743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45FB81-9468-4295-B3C6-BBD1F048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第一次启动本地工具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1555D176-5E1D-478E-AE37-ADCAD12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14588AE-4CFA-40FC-9B26-3EEE94E9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09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B310757-76B6-40B8-A0C4-9361A626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在项目根目录运行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F58C4DE-191D-4FC6-9D3E-356DD0B6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python3 demo/app.py --port 8765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0989037-27F8-4751-8BC4-A4597FB3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在浏览器打开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BC63075-ED74-4344-929D-D19F801F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http://127.0.0.1:8765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078D2435-215F-40BA-B281-363B5980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终端保持运行，全部使用虚构预约信息</a:t>
            </a:r>
          </a:p>
        </p:txBody>
      </p:sp>
    </p:spTree>
    <p:extLst>
      <p:ext uri="{BB962C8B-B14F-4D97-AF65-F5344CB8AC3E}">
        <p14:creationId xmlns:p14="http://schemas.microsoft.com/office/powerpoint/2010/main" val="18651043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AA5651-4C8C-4B16-BE51-1BA9F461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一次成功预约与刷新检查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B44509D5-AC7F-4E89-93B2-06030514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A01、A02、A05：查看、建立与保存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04E9A0E8-1BD0-4AB1-88E8-4F3B81AF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48A8B10-DF17-474C-A8EC-CF574898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10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B943CD9-6ED0-4FBD-8168-DA9802E0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D988693-E9FF-481F-941D-64CA36F5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85975"/>
            <a:ext cx="3124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选定同一日期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DE969C7-24CD-4A18-ABD0-23E6364D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859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查看会议室当天的已有预约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ACE79B0-A73B-438D-AAD9-FE1E01E3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EC26ED0-E96E-4DDF-94D4-C1E11257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24175"/>
            <a:ext cx="3124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提交空闲时段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37E6B94-A188-41BF-93F7-FBA9B2CF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241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例如 10:00—11:00，填写虚构信息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91B3513-AC8E-4A34-ABD3-EB10757D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C5BB15F-44AD-40F7-9AE0-051F4870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62375"/>
            <a:ext cx="3124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记录实际结果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BB9466-36B4-4D97-8E2C-C057BBCA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623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成功提示、列表内容与预约标识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EE63A56-12DE-4CBC-B63C-5E1A5B75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3DF3365-09EE-41A1-9793-E6D05953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00575"/>
            <a:ext cx="3124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刷新再查看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1D44135-1627-49DE-8D5F-8EE42687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005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保持相同日期，核对预约仍然存在</a:t>
            </a:r>
          </a:p>
        </p:txBody>
      </p:sp>
      <p:sp>
        <p:nvSpPr>
          <p:cNvPr id="17" name="takeaway">
            <a:extLst xmlns:a="http://schemas.openxmlformats.org/drawingml/2006/main">
              <a:ext uri="{FF2B5EF4-FFF2-40B4-BE49-F238E27FC236}">
                <a16:creationId xmlns:a16="http://schemas.microsoft.com/office/drawing/2014/main" id="{7456103A-7FFD-4790-8F01-36B38870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重启服务后还应检查一次，记录与刷新验收分开</a:t>
            </a:r>
          </a:p>
        </p:txBody>
      </p:sp>
    </p:spTree>
    <p:extLst>
      <p:ext uri="{BB962C8B-B14F-4D97-AF65-F5344CB8AC3E}">
        <p14:creationId xmlns:p14="http://schemas.microsoft.com/office/powerpoint/2010/main" val="12141224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207906-2560-4C9F-BCC6-7C666037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相邻可以，重叠不可以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AF0ED0F0-1F8C-4013-8FFF-DC5CC31A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060D5E4-555C-4664-9C6B-B65AD7A5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11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C19CB6F-690C-45F5-A98B-4E792141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相邻时段允许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57C7D48-5738-4FC4-9BFC-0048672F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2197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已有 10:00—11:00</a:t>
            </a:r>
          </a:p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再约 11:00—12:00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276E403-1ED4-499A-B27E-45C3DC37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24E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A24E36"/>
                </a:solidFill>
                <a:latin typeface="Arial Unicode MS"/>
                <a:ea typeface="Arial Unicode MS"/>
                <a:cs typeface="Arial Unicode MS"/>
              </a:rPr>
              <a:t>重叠时段拒绝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E285118-07DD-4708-9C34-001F7F2D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52197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已有 10:00—11:00</a:t>
            </a:r>
          </a:p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再约 10:30—11:30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97F4B640-92B9-44FF-A003-8FBE8471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随后取消原预约，再验证原时段重新可用</a:t>
            </a:r>
          </a:p>
        </p:txBody>
      </p:sp>
    </p:spTree>
    <p:extLst>
      <p:ext uri="{BB962C8B-B14F-4D97-AF65-F5344CB8AC3E}">
        <p14:creationId xmlns:p14="http://schemas.microsoft.com/office/powerpoint/2010/main" val="1780068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7EA03C-AA20-4966-9CA3-46C95D1D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出现问题时的求助说明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834A4B92-C0C5-4ADC-9FFC-E618C04C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具体记录能让他人和 AI 更快定位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D274C397-5368-428B-9DA7-7390CEE3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E22E9F1-4F2F-40F2-9536-0478C402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12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5ED8640-9A81-45C9-9E74-0D5ACC75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我做了什么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56B0121-7247-498B-B96E-94CF4E3A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日期、输入、操作顺序与命令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4877559-3786-4E9A-B859-CC50C831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我期待什么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630B4CD-E6EE-4E86-8202-ECAD0787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对应的验收例子与预期结果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CFD91EF-7897-4D1E-A084-E6F6E363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实际发生什么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C823464-9B4F-42BB-8A30-68F1D1E0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错误文字、界面变化与数据变化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F4C9CFE-1DFD-422B-BACC-185CBD96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运行环境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7DA1FAB-42D2-43D9-80E6-7B21A7A8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系统、Python 版本、代码版本及是否重启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9F62DF8C-D683-4703-B2CA-DE17051C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先复现同一问题，再尝试一项有理由的修改</a:t>
            </a:r>
          </a:p>
        </p:txBody>
      </p:sp>
    </p:spTree>
    <p:extLst>
      <p:ext uri="{BB962C8B-B14F-4D97-AF65-F5344CB8AC3E}">
        <p14:creationId xmlns:p14="http://schemas.microsoft.com/office/powerpoint/2010/main" val="16985291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5FEDB1-4C3A-4496-8CC3-398AFA38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一个可用的 AI 任务说明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BC1E8680-DD0F-4B0B-8090-393435C4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DC905A6-92E1-4820-AF98-7FEDA1EF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EDC715E-8791-42FA-8061-851033E3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场景：同事预约一间会议室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174CE37-63CD-46C2-944B-2FF57AE2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范围：只调整输入提示，不改变预约规则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6F86003-E751-4968-8FE7-D7759571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验收：错误提示说清原因，旧用例继续通过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7ABC0C8-096D-43D2-9C92-F4CFBB3A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过程：先解释计划，再列出修改与检查结果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B4D42B43-D4C1-4DFE-86F8-342304FE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长期规则放在 AGENTS.md，当前任务写清具体目标</a:t>
            </a:r>
          </a:p>
        </p:txBody>
      </p:sp>
    </p:spTree>
    <p:extLst>
      <p:ext uri="{BB962C8B-B14F-4D97-AF65-F5344CB8AC3E}">
        <p14:creationId xmlns:p14="http://schemas.microsoft.com/office/powerpoint/2010/main" val="18877187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EABF5F-DC5F-4D5C-B0D3-0A9D9B26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进阶练习：午休时段不可预约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8D7AA829-D32D-431C-AC9C-E244722A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可先完成需求与验收；基线应用尚未实现此规则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C478ABE1-412D-4A04-AB6A-0E27DE2B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B877E97-A255-4CCB-AF42-4CC08C97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6C0D9EE-5ED4-422D-ADC7-EB9A530F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先说明规则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419619D-9CF0-47D0-B90D-42891626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假设午休为 12:00—13:00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A6D0044-32B7-401D-A8F1-3F0CEC22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只要与午休重叠，就拒绝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BC46486-CC27-4020-934D-436E07EB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11:00—12:00 仍然允许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8ECD1BB-E4A5-4EDA-89F4-6260E471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13:00—14:00 仍然允许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9CE3131-8988-4381-A5E7-F2B438DD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按进度选择任务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4D7A3AC-2F14-4C08-8F46-613D813F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基础：写正常与异常验收例子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4EF0F77-7394-49AA-8BEA-8257EBF3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进阶：在独立副本与空库实现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B679992-7FF9-4FE3-BCCD-E61E1E68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检查差异，不确定时请求技术复核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95569D8-73CA-44B7-94C8-6A1EEFF9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回归旧检查，注明需求引起的调整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0435AE82-5A90-4B3E-8E5A-E9351356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时间为教学假设，真实规则由业务确认</a:t>
            </a:r>
          </a:p>
        </p:txBody>
      </p:sp>
    </p:spTree>
    <p:extLst>
      <p:ext uri="{BB962C8B-B14F-4D97-AF65-F5344CB8AC3E}">
        <p14:creationId xmlns:p14="http://schemas.microsoft.com/office/powerpoint/2010/main" val="5135439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450909-6536-488A-B2DB-6FAAC64A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新要求：增加主管审批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0F4F15AF-A557-4437-9CCD-5ABD7368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一个新按钮可能改变整个办事流程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15DE1F74-AADD-462F-9A2D-517FC548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4FC0E7C-DE0C-43D7-AAAC-F4F50E4D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15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7EF1AC0-39A0-4944-9C4A-287B55AC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先向业务问清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4A97421-22CB-4686-AC17-06E7D408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谁可以审批，谁可以查看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C303D90-D34E-4ADF-AC94-3AC9E1C1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等待审批时是否占用时段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46D205E-BC93-4985-B5CF-F6498521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驳回以后怎样通知与处理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5AB6806-BF31-4A68-A93D-AA46D9B7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旧预约如何继续使用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3C98640-000C-4446-AD8C-38C83146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再讨论交付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717B30F-25DE-480C-8DE1-59FBD36B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比较原范围先交与分期方案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FA079ED-CE86-4292-BD7B-B1C68627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评估数据、权限和测试变化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368E8E6-0963-41D2-866A-CDF6BB49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保留原承诺与新预测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CDF66A8-57E5-4E43-BAE9-B7DF4200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授权人确认后更新计划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0F8AE8D9-402A-4C08-B8B4-DE4A2C92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审批是变更演练，不是本地示例已有功能</a:t>
            </a:r>
          </a:p>
        </p:txBody>
      </p:sp>
    </p:spTree>
    <p:extLst>
      <p:ext uri="{BB962C8B-B14F-4D97-AF65-F5344CB8AC3E}">
        <p14:creationId xmlns:p14="http://schemas.microsoft.com/office/powerpoint/2010/main" val="16008984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4189B4-B01F-461C-B474-873A4E24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交付前需要与客户说清的事项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38D84555-4835-4C53-9BC8-C31D0D9A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部署与 DfX 只做基础认识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0E828DEB-5121-454E-837A-76F50D10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8244957-9838-499F-A8CA-FCA8314B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16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62750"/>
                <a:gridCol w="4210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问题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需要谁来确认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程序放在哪里，环境何时可用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客户与环境负责人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哪些人能访问，哪些数据可使用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业务、IT 与安全相关负责人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冲突、故障、性能怎样验收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业务与工程人员共同确认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谁运行维护，怎样备份和恢复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运维与交付负责人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CB71EA8D-1D95-44C7-B3A2-C14A4CE6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本例运行在自己电脑上，真实部署需要额外设计与验证</a:t>
            </a:r>
          </a:p>
        </p:txBody>
      </p:sp>
    </p:spTree>
    <p:extLst>
      <p:ext uri="{BB962C8B-B14F-4D97-AF65-F5344CB8AC3E}">
        <p14:creationId xmlns:p14="http://schemas.microsoft.com/office/powerpoint/2010/main" val="5786275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C32936-4AE8-4061-B363-D1420A24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交付状态与工具求助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2C3963D1-A96B-411A-94B2-7DE7982F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每次汇报都说清下一步需要什么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C877D12D-876C-4F81-909F-F6512A73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521C7DF-6944-4295-B5AB-27E815D1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17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C9D8ADA-D540-4696-BE37-3A20682C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状态记录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78160DE-2624-4B8B-BF22-E0B6D08B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本次范围与验收条件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9855BCC-8F34-4EAA-BE63-8B8FC8D2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已完成操作及实际证据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BD1DABB-D9FA-47BF-8B30-63542337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还没通过的项目与阻塞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716179A-026D-4DF4-8BA6-5EC1E6AC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下一步和需要谁帮助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387C585-2AC1-4045-91E0-FF8F238B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工具与求助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254AE1F-4D9C-4334-90FD-768813A4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工具不可用时保留文件与记录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A281608-7EC0-4C75-97E6-6EF6EEB9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新工具仍需符合数据与权限规则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522A290-C83D-4380-9CB2-2DA9D831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业务问题找需求或验收负责人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1CA6879-8820-4CAB-9CE3-13E87531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代码、数据、发布问题请求技术复核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7AF12C30-A81C-44BC-9DC6-1A163052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已实现、已验证、客户已接受分别记录</a:t>
            </a:r>
          </a:p>
        </p:txBody>
      </p:sp>
    </p:spTree>
    <p:extLst>
      <p:ext uri="{BB962C8B-B14F-4D97-AF65-F5344CB8AC3E}">
        <p14:creationId xmlns:p14="http://schemas.microsoft.com/office/powerpoint/2010/main" val="16541006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54608A-AECD-4871-A77A-237F8366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完成证明与下一次改进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E7E8ACD1-A0BD-42C5-AE35-581B085C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把一个新任务完整讲清楚并实际验证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7BCD0721-E206-4042-9935-ADA331A1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FE8F89F-5077-4C0F-B544-E9617970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18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CBEC03A-DD25-447E-B33B-46C919BE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完成证明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8818FCB-9705-480A-AC2C-78611210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一张清楚的场景与验收卡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98AC214-56BC-4A3B-90F7-7CEBE6C4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进阶：可解释的小变更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4F243A0-F176-4CF2-88AF-55A29A87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正常、异常与旧功能检查结果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2A174DB-FFB9-48B2-AED1-24C97962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一份可复现的问题或交接记录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14CAAEB-74A0-4712-AE00-3B3E4839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完成后改进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23AED8D-E06C-4674-9D6E-E5356C96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记录最困惑的概念与操作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1A20C92-326A-4092-BBF6-75EAD528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核对验收，不确定的影响请求复核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2372DCA-38D5-4481-B836-0D9FD9CB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把新问题加入 FAQ 与练习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FB38102-3504-4677-A1EB-B10E1D81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换一个小任务检查能否迁移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FB86E17D-489C-44B6-9EEA-1D326ACB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自检依据是独立完成新任务的实际结果</a:t>
            </a:r>
          </a:p>
        </p:txBody>
      </p:sp>
    </p:spTree>
    <p:extLst>
      <p:ext uri="{BB962C8B-B14F-4D97-AF65-F5344CB8AC3E}">
        <p14:creationId xmlns:p14="http://schemas.microsoft.com/office/powerpoint/2010/main" val="509969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2026-10-04T05:41:04.6460000Z</dcterms:created>
  <dcterms:modified xsi:type="dcterms:W3CDTF">2026-10-04T05:41:04.6460000Z</dcterms:modified>
</coreProperties>
</file>