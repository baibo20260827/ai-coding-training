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e2ae6bd66464bc0" /><Relationship Type="http://schemas.openxmlformats.org/officeDocument/2006/relationships/extended-properties" Target="/docProps/app.xml" Id="R7c094f4f82ac4a61" /><Relationship Type="http://schemas.openxmlformats.org/officeDocument/2006/relationships/officeDocument" Target="/ppt/presentation.xml" Id="R96defc70df084b8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b275d4105e34bb1"/>
  </p:sldMasterIdLst>
  <p:notesMasterIdLst>
    <p:notesMasterId xmlns:r="http://schemas.openxmlformats.org/officeDocument/2006/relationships" r:id="R23e53a4234f84be5"/>
  </p:notesMasterIdLst>
  <p:sldIdLst>
    <p:sldId xmlns:r="http://schemas.openxmlformats.org/officeDocument/2006/relationships" id="256" r:id="R7aaedb1745e844c5"/>
    <p:sldId xmlns:r="http://schemas.openxmlformats.org/officeDocument/2006/relationships" id="257" r:id="R4b83aa00aa9a4098"/>
    <p:sldId xmlns:r="http://schemas.openxmlformats.org/officeDocument/2006/relationships" id="258" r:id="R47f87a4d3cb04e26"/>
    <p:sldId xmlns:r="http://schemas.openxmlformats.org/officeDocument/2006/relationships" id="259" r:id="R92aeeeb105014fc4"/>
    <p:sldId xmlns:r="http://schemas.openxmlformats.org/officeDocument/2006/relationships" id="260" r:id="Rab288a79feb6466d"/>
    <p:sldId xmlns:r="http://schemas.openxmlformats.org/officeDocument/2006/relationships" id="261" r:id="R05bf03f557074724"/>
    <p:sldId xmlns:r="http://schemas.openxmlformats.org/officeDocument/2006/relationships" id="262" r:id="R4c8b4eded45d4768"/>
    <p:sldId xmlns:r="http://schemas.openxmlformats.org/officeDocument/2006/relationships" id="263" r:id="R49aab97e292a4e8b"/>
    <p:sldId xmlns:r="http://schemas.openxmlformats.org/officeDocument/2006/relationships" id="264" r:id="R976651644f4c4b1d"/>
    <p:sldId xmlns:r="http://schemas.openxmlformats.org/officeDocument/2006/relationships" id="265" r:id="Re32e91ac5ae34206"/>
    <p:sldId xmlns:r="http://schemas.openxmlformats.org/officeDocument/2006/relationships" id="266" r:id="R9e83def0220345c2"/>
    <p:sldId xmlns:r="http://schemas.openxmlformats.org/officeDocument/2006/relationships" id="267" r:id="R65069f26a9fe4b79"/>
    <p:sldId xmlns:r="http://schemas.openxmlformats.org/officeDocument/2006/relationships" id="268" r:id="R9f4be126f6f54bf0"/>
    <p:sldId xmlns:r="http://schemas.openxmlformats.org/officeDocument/2006/relationships" id="269" r:id="Ra6cdb414a19a41df"/>
    <p:sldId xmlns:r="http://schemas.openxmlformats.org/officeDocument/2006/relationships" id="270" r:id="Radbc5b3f82734e4f"/>
    <p:sldId xmlns:r="http://schemas.openxmlformats.org/officeDocument/2006/relationships" id="271" r:id="R0b9a145d1c494c63"/>
    <p:sldId xmlns:r="http://schemas.openxmlformats.org/officeDocument/2006/relationships" id="272" r:id="R881bb25c892e4957"/>
    <p:sldId xmlns:r="http://schemas.openxmlformats.org/officeDocument/2006/relationships" id="273" r:id="Ra93f721615d7475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4934f47202a42d7" /><Relationship Type="http://schemas.openxmlformats.org/officeDocument/2006/relationships/slideMaster" Target="/ppt/slideMasters/slideMaster1.xml" Id="R8b275d4105e34bb1" /><Relationship Type="http://schemas.openxmlformats.org/officeDocument/2006/relationships/notesMaster" Target="/ppt/notesMasters/notesMaster1.xml" Id="R23e53a4234f84be5" /><Relationship Type="http://schemas.openxmlformats.org/officeDocument/2006/relationships/presProps" Target="/ppt/presProps.xml" Id="R15539f00733e4d2e" /><Relationship Type="http://schemas.openxmlformats.org/officeDocument/2006/relationships/tableStyles" Target="/ppt/tableStyles.xml" Id="R18425483ed534657" /><Relationship Type="http://schemas.openxmlformats.org/officeDocument/2006/relationships/slide" Target="/ppt/slides/slide1.xml" Id="R7aaedb1745e844c5" /><Relationship Type="http://schemas.openxmlformats.org/officeDocument/2006/relationships/slide" Target="/ppt/slides/slide2.xml" Id="R4b83aa00aa9a4098" /><Relationship Type="http://schemas.openxmlformats.org/officeDocument/2006/relationships/slide" Target="/ppt/slides/slide3.xml" Id="R47f87a4d3cb04e26" /><Relationship Type="http://schemas.openxmlformats.org/officeDocument/2006/relationships/slide" Target="/ppt/slides/slide4.xml" Id="R92aeeeb105014fc4" /><Relationship Type="http://schemas.openxmlformats.org/officeDocument/2006/relationships/slide" Target="/ppt/slides/slide5.xml" Id="Rab288a79feb6466d" /><Relationship Type="http://schemas.openxmlformats.org/officeDocument/2006/relationships/slide" Target="/ppt/slides/slide6.xml" Id="R05bf03f557074724" /><Relationship Type="http://schemas.openxmlformats.org/officeDocument/2006/relationships/slide" Target="/ppt/slides/slide7.xml" Id="R4c8b4eded45d4768" /><Relationship Type="http://schemas.openxmlformats.org/officeDocument/2006/relationships/slide" Target="/ppt/slides/slide8.xml" Id="R49aab97e292a4e8b" /><Relationship Type="http://schemas.openxmlformats.org/officeDocument/2006/relationships/slide" Target="/ppt/slides/slide9.xml" Id="R976651644f4c4b1d" /><Relationship Type="http://schemas.openxmlformats.org/officeDocument/2006/relationships/slide" Target="/ppt/slides/slide10.xml" Id="Re32e91ac5ae34206" /><Relationship Type="http://schemas.openxmlformats.org/officeDocument/2006/relationships/slide" Target="/ppt/slides/slide11.xml" Id="R9e83def0220345c2" /><Relationship Type="http://schemas.openxmlformats.org/officeDocument/2006/relationships/slide" Target="/ppt/slides/slide12.xml" Id="R65069f26a9fe4b79" /><Relationship Type="http://schemas.openxmlformats.org/officeDocument/2006/relationships/slide" Target="/ppt/slides/slide13.xml" Id="R9f4be126f6f54bf0" /><Relationship Type="http://schemas.openxmlformats.org/officeDocument/2006/relationships/slide" Target="/ppt/slides/slide14.xml" Id="Ra6cdb414a19a41df" /><Relationship Type="http://schemas.openxmlformats.org/officeDocument/2006/relationships/slide" Target="/ppt/slides/slide15.xml" Id="Radbc5b3f82734e4f" /><Relationship Type="http://schemas.openxmlformats.org/officeDocument/2006/relationships/slide" Target="/ppt/slides/slide16.xml" Id="R0b9a145d1c494c63" /><Relationship Type="http://schemas.openxmlformats.org/officeDocument/2006/relationships/slide" Target="/ppt/slides/slide17.xml" Id="R881bb25c892e4957" /><Relationship Type="http://schemas.openxmlformats.org/officeDocument/2006/relationships/slide" Target="/ppt/slides/slide18.xml" Id="Ra93f721615d7475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3dcb60982ec4b0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3bb65fbca9743df" /><Relationship Type="http://schemas.openxmlformats.org/officeDocument/2006/relationships/notesMaster" Target="/ppt/notesMasters/notesMaster1.xml" Id="R63e7f6ec3822441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bf7d4a21ba44da4" /><Relationship Type="http://schemas.openxmlformats.org/officeDocument/2006/relationships/notesMaster" Target="/ppt/notesMasters/notesMaster1.xml" Id="R124262c46ef3473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dd95f18297d4f56" /><Relationship Type="http://schemas.openxmlformats.org/officeDocument/2006/relationships/notesMaster" Target="/ppt/notesMasters/notesMaster1.xml" Id="R88e0b44e1c0c4e1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03d2a740ef9447c" /><Relationship Type="http://schemas.openxmlformats.org/officeDocument/2006/relationships/notesMaster" Target="/ppt/notesMasters/notesMaster1.xml" Id="R39c66aca12ec486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c50bf9b6d3e44c2" /><Relationship Type="http://schemas.openxmlformats.org/officeDocument/2006/relationships/notesMaster" Target="/ppt/notesMasters/notesMaster1.xml" Id="Rc1e597abc2874a1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01a24db54c94dd0" /><Relationship Type="http://schemas.openxmlformats.org/officeDocument/2006/relationships/notesMaster" Target="/ppt/notesMasters/notesMaster1.xml" Id="R8e65bdc2bd284b1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3af5a6dab1746c2" /><Relationship Type="http://schemas.openxmlformats.org/officeDocument/2006/relationships/notesMaster" Target="/ppt/notesMasters/notesMaster1.xml" Id="Rd24cdece4719488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38e4aa0b6ff4ef4" /><Relationship Type="http://schemas.openxmlformats.org/officeDocument/2006/relationships/notesMaster" Target="/ppt/notesMasters/notesMaster1.xml" Id="R8129c68a39f246e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edb550cf42d424a" /><Relationship Type="http://schemas.openxmlformats.org/officeDocument/2006/relationships/notesMaster" Target="/ppt/notesMasters/notesMaster1.xml" Id="Rb5ea2682bebc4da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18f7c3a0da6478f" /><Relationship Type="http://schemas.openxmlformats.org/officeDocument/2006/relationships/notesMaster" Target="/ppt/notesMasters/notesMaster1.xml" Id="R2ff7d19767e3482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08c841739d14be6" /><Relationship Type="http://schemas.openxmlformats.org/officeDocument/2006/relationships/notesMaster" Target="/ppt/notesMasters/notesMaster1.xml" Id="Rfeabff07271144b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3c68db25d514de5" /><Relationship Type="http://schemas.openxmlformats.org/officeDocument/2006/relationships/notesMaster" Target="/ppt/notesMasters/notesMaster1.xml" Id="R6125f5e3e62d4f1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46fd7d6672044c6" /><Relationship Type="http://schemas.openxmlformats.org/officeDocument/2006/relationships/notesMaster" Target="/ppt/notesMasters/notesMaster1.xml" Id="R21ae12335f284ca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a20c097f37b41b8" /><Relationship Type="http://schemas.openxmlformats.org/officeDocument/2006/relationships/notesMaster" Target="/ppt/notesMasters/notesMaster1.xml" Id="R1d60320cfe804ab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4f3bdffc9af4648" /><Relationship Type="http://schemas.openxmlformats.org/officeDocument/2006/relationships/notesMaster" Target="/ppt/notesMasters/notesMaster1.xml" Id="Rfff04207f13c461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140935c18034a07" /><Relationship Type="http://schemas.openxmlformats.org/officeDocument/2006/relationships/notesMaster" Target="/ppt/notesMasters/notesMaster1.xml" Id="R86d5b1499cc7439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502f0183c7e423b" /><Relationship Type="http://schemas.openxmlformats.org/officeDocument/2006/relationships/notesMaster" Target="/ppt/notesMasters/notesMaster1.xml" Id="Rfe53bffb7d2049e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6d1c38ea8ac4476" /><Relationship Type="http://schemas.openxmlformats.org/officeDocument/2006/relationships/notesMaster" Target="/ppt/notesMasters/notesMaster1.xml" Id="Rb0e3ac6b1668422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 页：AI Coding 从想法到验收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整课建议 150 分钟，包含环境准备、共同开篇、讲解操作、练习及反馈，具体以 training/README.md 的安排为准，实际节奏待试讲校准。无需先掌握编程语法，先认识用户、输入、规则、数据和结果。结课目标是写清一个小需求，借助 AI 完成可控变化，自己验证，并带具体证据向导师求助。示例属于本地教学，无登录和审批，不能直接当作部门生产系统。代码正确性和真实部署需要相应技术人员参与。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本页为教学设计与示例，无外部统计数据。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 页：主管的小失败：周五还能交付吗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建议用时 2 分钟。案例为虚构教学情境。周一约定周五试用查看、预约、取消，周三页面可操作，周四客户提出新增主管审批。主管据页面生成速度判断可以同日完成，到了周五才发现审批人、驳回后处理、待审批数据可见范围没有定清。可见后果是试用暂缓，并重新召开范围确认会。这里的困难是缺少支持承诺的证据。请问听众：回答周五一起给之前，你最需要补看什么？接收一两个回答后，引出交付状态卡。必须区分原功能缺陷与新增审批，不能用新增范围证明原范围不合格，也不能凭这个故事推断真实延期天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本页为教学设计与示例，无外部统计数据。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3 页：工程师的小失败：测试绿了，规则错了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建议用时 2 分钟。案例为虚构、预设的错误修改。工程师请 AI 修复相邻预约误判，AI 回复全部测试通过。工程师补试一个明显重叠的预约，发现也能成功。差异显示，原来应拒绝的测试预期被改成允许。工程师停下合并，没有把故障交给真实用户。提问：测试全绿时，你怎样判断测试仍在检查正确的规则？引出两个独立验收例子、代码差异和测试预期审查。不要得出 AI 每次都会改坏测试的结论。测试可以随已确认需求改变，但预期变化需要业务依据。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本页为教学设计与示例，无外部统计数据。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4 页：新手的小失败：刷新后，预约不见了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建议用时 2 分钟。案例为虚构教学情境。新手输入做一个好用的会议室预约系统，页面出现、按钮能点、列表能显示预约。展示时同事刷新页面，记录消失。新手不知道该重新做，还是继续说帮我修好。本故事预设记录只存在页面内存，真实故障不能仅凭同一现象断定同一原因。让听众补三条可检查要求：刷新保留、重叠拒绝、取消释放。再说明后续会逐步认识输入、规则、数据、结果，并学习提供操作步骤、预期、实际与环境信息来求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本页为教学设计与示例，无外部统计数据。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5 页：一个软件里发生了什么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建议用时 5 分钟。把软件比作办事流程，但每个术语都回到当前页面。用户填写是输入，程序检查时间和冲突是规则，预约记录是数据，成功或拒绝是结果。页面只是用户接触的一部分，漂亮页面不能证明数据已经保存。本课先要求学员说清这些部分如何连接，不要求立即写出代码。请学员描述点击预约后，到列表显示之间应该发生什么，并指出刷新后需要从哪里重新取得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本页为教学设计与示例，无外部统计数据。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6 页：一张客户场景卡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建议用时 5 分钟。请学员用自己的话填写场景卡，再让另一个人照着卡说明预期行为。单日表示一次预约不能跨日期，不是只能预约今天。教学案例的日期范围与输入格式按应用说明操作。先确认核心流程，再记录想做但本期不做的内容。业务负责人和验收人的角色可能由同一个人担任，但需要明确。尚无真实客户输入时，所有假设写出来，不能让 AI 猜测后当成确认。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本页为教学设计与示例，无外部统计数据。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7 页：我能亲手检查的验收例子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建议用时 5 分钟。验收是比较预期和实际，不能把看起来不错写成通过。先确认使用同一日期和正确服务实例，再操作。给每个例子留结果、证据和备注位置。新手可以完成这些业务验证，无需读懂数据库代码，但并发、安全和真实发布等技术判断需要导师支持。测试脚本能帮助反复检查，人工仍要确认脚本覆盖了用户关心的行为。讲师在实际操作前不能预填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本页为教学设计与示例，无外部统计数据。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8 页：4A：从四个角度看小工具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建议用时 5 分钟。不要先要求记住英文缩写。BA 业务架构回答谁做什么以及规则。AA 应用架构回答页面和程序各自负责什么。DA 数据架构回答要保存哪些记录及它们怎样变化。TA 技术架构回答程序在哪里运行以及依赖什么。本例四类关注点都很小，使用一个本地应用即可说明。沿一个预约指图：同事提出预约、页面提交、程序检查、数据库保存、页面显示。图中内容可以编辑，后续需求变化时与实现一起更新。 本例数据模型由一条预约对应多个半小时占用格，同一日期与格起点只能占用一次。取消预约同时释放相应占用格。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官方资料（2026-10-03 核对）：</a:t>
            </a:r>
          </a:p>
          <a:p xmlns:a="http://schemas.openxmlformats.org/drawingml/2006/main">
            <a:r>
              <a:t>architecture: https://help.opengroup.org/hc/en-us/articles/32115987894930-How-the-ArchiMate-Language-and-the-TOGAF-Standard-Complement-Each-Other</a:t>
            </a:r>
          </a:p>
          <a:p xmlns:a="http://schemas.openxmlformats.org/drawingml/2006/main">
            <a:r>
              <a:t>sqlite: https://docs.python.org/3/library/sqlite3.html</a:t>
            </a:r>
          </a:p>
          <a:p xmlns:a="http://schemas.openxmlformats.org/drawingml/2006/main">
            <a:r>
              <a:t>http: https://docs.python.org/3/library/http.server.html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9 页：第一次启动本地工具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建议用时 8 分钟。导师先确认机器有可用 Python 3 且包含 sqlite3 模块，讲清项目根目录是 README 所在目录。终端运行命令后保持窗口打开，再在浏览器访问地址。127.0.0.1 指自己的电脑，因此其他同事电脑的同一地址不是你的程序。启动报错时保留完整错误和命令，不重复盲改文件。端口占用或缺少 Python 由导师按故障指南协助处理。本课不把服务开放到外部网络。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官方资料（2026-10-03 核对）：</a:t>
            </a:r>
          </a:p>
          <a:p xmlns:a="http://schemas.openxmlformats.org/drawingml/2006/main">
            <a:r>
              <a:t>http: https://docs.python.org/3/library/http.server.html</a:t>
            </a:r>
          </a:p>
          <a:p xmlns:a="http://schemas.openxmlformats.org/drawingml/2006/main">
            <a:r>
              <a:t>sqlite: https://docs.python.org/3/library/sqlite3.html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10 页：一次成功预约与刷新检查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建议用时 8 分钟。让学员结对操作，一人执行一人记录。使用没有预约的教学日期，避免已有数据造成困惑。建立 10:00 至 11:00 的预约后，检查显示的日期和时间，再刷新页面并选择同一日期。刷新成功不等同于服务重启成功，应在导师指导下停止并重新运行服务，确认记录仍在。记录日期、步骤、预期、实际和应用版本。不要使用真实会议主题或个人信息作为课堂测试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本页为教学设计与示例，无外部统计数据。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11 页：相邻可以，重叠不可以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建议用时 8 分钟。让学员先口头判断左右例子，强调全部在同一日期。实际分别尝试并记录结果，避免一次成功后新增数据干扰下一例，可按手册准备或清理自己的教学预约。半开区间意味着 11:00 结束的预约不会占用从 11:00 开始的下一段。接着取消原预约，核对取消提示及列表，再预约原时段。若结果与预期不同，停止继续叠加数据，先保留最短复现步骤并求助。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本页为教学设计与示例，无外部统计数据。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12 页：出现问题时的求助说明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建议用时 5 分钟。请学员把打不开改写为可复现问题：在哪个目录运行什么命令，终端显示什么，浏览器访问什么地址，期望是什么。发送记录前检查是否包含真实个人信息或凭据，教学环境优先合成数据。若问题涉及权限、数据删除或对外部署，交由相应负责人判断。AI 可以提出排查步骤，学员每次只执行理解且获准的一步，记录变化。不要将本故事的数据丢失原因套用到所有故障。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本页为教学设计与示例，无外部统计数据。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13 页：一个可用的 AI 任务说明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建议用时 5 分钟。让学员把模糊请求改成四行具体说明，任选提示语的小变更。先让 AI 说明理解、计划和涉及文件，学员确认其与需求一致后再执行已授权修改。验收描述应能观察，不能只有好用、智能、美观等词。不要把任何示例提示当万能咒语，不同任务需要补充输入、边界与验证条件。AGENTS.md 帮助 AI 了解项目约定，真正的检查要运行应用与测试。代码与测试变化由导师指导审查。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官方资料（2026-10-03 核对）：</a:t>
            </a:r>
          </a:p>
          <a:p xmlns:a="http://schemas.openxmlformats.org/drawingml/2006/main">
            <a:r>
              <a:t>agents: https://learn.chatgpt.com/docs/agent-configuration/agents-md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14 页：练习：午休时段不可预约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建议用时 5 分钟布置，另留练习时间。本变更未预先实现，不允许直接把课程里的答案照抄成考核结果。给学员留下跨越午休的隐藏边界，如 11:30 至 13:30，也应拒绝。要求解释为什么仅禁止开始时间位于午休不够。新手可依赖 AI 编码和导师技术把关，但必须自己说明需求、执行验收并报告实际结果。若已有预约与新规则冲突，应提出如何处理的待确认问题，而不是擅自删除数据。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本页为教学设计与示例，无外部统计数据。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15 页：新要求：增加主管审批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建议用时 5 分钟。连接主管开篇故事。新手需要认识到看起来只多一个按钮的要求，可能涉及流程、数据状态、身份权限、通知和旧数据处理。不要凭 AI 生成页面的速度答应日期。可以帮助业务整理问题和方案，工期与真实上线由有权限的负责人及工程人员评估。新增工作量并不能直接等同延期天数，依赖和可并行工作也会影响计划。所有未确认内容保持待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本页为教学设计与示例，无外部统计数据。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16 页：交付前需要与客户说清的事项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建议用时 4 分钟。解释部署是把程序放到约定环境并负责运行，DfX 是事先规划性能、安全、可靠性、维护等质量要求。新手不需要立刻选择复杂技术，但应知道哪些问题需要找谁确认。真实项目要写目标、验证方法、环境、证据与限制。本例无登录，采用 Python 标准库 HTTP，只用于本地教学，不应直接当作部门生产系统。官方文档也说明 http.server 不推荐用于生产。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官方资料（2026-10-03 核对）：</a:t>
            </a:r>
          </a:p>
          <a:p xmlns:a="http://schemas.openxmlformats.org/drawingml/2006/main">
            <a:r>
              <a:t>http: https://docs.python.org/3/library/http.server.html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17 页：交付状态与工具求助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建议用时 4 分钟。让学员用四句话报告午休练习状态。例如已完成规则说明和修改，边界例子通过，但已有预约如何处理待业务决定。这是诚实可操作的进度说明。若有对外日期，还要分别记录批准承诺与预测，不能自己改承诺。工具不可用时保存任务、代码和操作记录，请导师安排获准的接续方式。课程培养的是能表达与验证小任务的人，复杂工程责任由对应人员承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本页为教学设计与示例，无外部统计数据。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18 页：完成证明与下一次改进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建议用时 5 分钟。请学员展示新任务而非重复讲师原操作。评分看需求表达、验收例子、实际证据、失败求助和边界意识，不要求背诵术语或代码。成功演示一个正常输入仍不足以完成考核，应包含异常输入或边界以及旧功能回归。收集困惑时记录具体语句和操作位置，据此修订教程、FAQ 和课件。材料修订完成不等于学习效果已提升，需要在下一轮新任务中验证。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本页为教学设计与示例，无外部统计数据。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5ebb8a58e6464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ea6638996d74f7d" /><Relationship Type="http://schemas.openxmlformats.org/officeDocument/2006/relationships/slideLayout" Target="/ppt/slideLayouts/slideLayout1.xml" Id="R8e7a6918c56841a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e7a6918c56841a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82570c09744f52" /><Relationship Type="http://schemas.openxmlformats.org/officeDocument/2006/relationships/notesSlide" Target="/ppt/notesSlides/notesSlide1.xml" Id="Rd51f91b4f6a9489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25cf47f31c449f" /><Relationship Type="http://schemas.openxmlformats.org/officeDocument/2006/relationships/notesSlide" Target="/ppt/notesSlides/notesSlide2.xml" Id="R59d0a2808429487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52d07ed47744b6" /><Relationship Type="http://schemas.openxmlformats.org/officeDocument/2006/relationships/notesSlide" Target="/ppt/notesSlides/notesSlide3.xml" Id="Rbdf814918e1b429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e95589509c46a2" /><Relationship Type="http://schemas.openxmlformats.org/officeDocument/2006/relationships/notesSlide" Target="/ppt/notesSlides/notesSlide4.xml" Id="Reb188cd5c6e24bf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c013417e754bc1" /><Relationship Type="http://schemas.openxmlformats.org/officeDocument/2006/relationships/notesSlide" Target="/ppt/notesSlides/notesSlide5.xml" Id="R98f1cee2dd02419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65984f9bfe43f0" /><Relationship Type="http://schemas.openxmlformats.org/officeDocument/2006/relationships/notesSlide" Target="/ppt/notesSlides/notesSlide6.xml" Id="R1899ab58406b4f3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388360295d40ff" /><Relationship Type="http://schemas.openxmlformats.org/officeDocument/2006/relationships/notesSlide" Target="/ppt/notesSlides/notesSlide7.xml" Id="R30253a84e81543e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62c6e2d4ae41d8" /><Relationship Type="http://schemas.openxmlformats.org/officeDocument/2006/relationships/notesSlide" Target="/ppt/notesSlides/notesSlide8.xml" Id="R47c59fed004f407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4a756e95b04de7" /><Relationship Type="http://schemas.openxmlformats.org/officeDocument/2006/relationships/notesSlide" Target="/ppt/notesSlides/notesSlide9.xml" Id="R1b923deebd984dc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4c138229524171" /><Relationship Type="http://schemas.openxmlformats.org/officeDocument/2006/relationships/notesSlide" Target="/ppt/notesSlides/notesSlide10.xml" Id="Rd1c6278f604c46c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99078cf14d4179" /><Relationship Type="http://schemas.openxmlformats.org/officeDocument/2006/relationships/notesSlide" Target="/ppt/notesSlides/notesSlide11.xml" Id="R403061ea028d4f7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8bc7c582a14285" /><Relationship Type="http://schemas.openxmlformats.org/officeDocument/2006/relationships/notesSlide" Target="/ppt/notesSlides/notesSlide12.xml" Id="R943a77ab8a8b4e4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ce8430794d4ca6" /><Relationship Type="http://schemas.openxmlformats.org/officeDocument/2006/relationships/notesSlide" Target="/ppt/notesSlides/notesSlide13.xml" Id="Rcea88c78770a4c1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b8290d0fa94813" /><Relationship Type="http://schemas.openxmlformats.org/officeDocument/2006/relationships/notesSlide" Target="/ppt/notesSlides/notesSlide14.xml" Id="R88edea11482643f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120bcfc8ab4695" /><Relationship Type="http://schemas.openxmlformats.org/officeDocument/2006/relationships/notesSlide" Target="/ppt/notesSlides/notesSlide15.xml" Id="Rd6297102879441d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2bac7496b84f09" /><Relationship Type="http://schemas.openxmlformats.org/officeDocument/2006/relationships/notesSlide" Target="/ppt/notesSlides/notesSlide16.xml" Id="Rdc6da8d6713b480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89fe0c9a7f4032" /><Relationship Type="http://schemas.openxmlformats.org/officeDocument/2006/relationships/notesSlide" Target="/ppt/notesSlides/notesSlide17.xml" Id="R0ee514cc465144b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9ef815f7644e17" /><Relationship Type="http://schemas.openxmlformats.org/officeDocument/2006/relationships/notesSlide" Target="/ppt/notesSlides/notesSlide18.xml" Id="R27a71dd70ed64f0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3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AA64021-F36D-4089-B487-E556B8F75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A8CCC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A8CCCA"/>
                </a:solidFill>
                <a:latin typeface="Arial Unicode MS"/>
                <a:ea typeface="Arial Unicode MS"/>
                <a:cs typeface="Arial Unicode MS"/>
              </a:rPr>
              <a:t>零基础入门课程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27282ED6-5AEB-4356-8913-8244EA6D7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28825"/>
            <a:ext cx="1085850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9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AI Coding</a:t>
            </a:r>
          </a:p>
          <a:p xmlns:a="http://schemas.openxmlformats.org/drawingml/2006/main">
            <a:pPr algn="l">
              <a:defRPr sz="49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9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从想法到验收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C95343B1-A7E0-4B2C-A1F9-A7B66203E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D4E4E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D4E4E2"/>
                </a:solidFill>
                <a:latin typeface="Arial Unicode MS"/>
                <a:ea typeface="Arial Unicode MS"/>
                <a:cs typeface="Arial Unicode MS"/>
              </a:rPr>
              <a:t>做出一个能解释、能检查的本地小工具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C3A69F6-5FA1-4EB5-983B-C759FFFDF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8CCC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A8CCCA"/>
                </a:solidFill>
                <a:latin typeface="Arial Unicode MS"/>
                <a:ea typeface="Arial Unicode MS"/>
                <a:cs typeface="Arial Unicode MS"/>
              </a:rPr>
              <a:t>软件工程 Harness 能力建设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3267470-1C86-481E-8A39-354C76802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60769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A8CCC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A8CCCA"/>
                </a:solidFill>
                <a:latin typeface="Arial Unicode MS"/>
                <a:ea typeface="Arial Unicode MS"/>
                <a:cs typeface="Arial Unicode MS"/>
              </a:rPr>
              <a:t>2026.10</a:t>
            </a:r>
          </a:p>
        </p:txBody>
      </p:sp>
    </p:spTree>
    <p:extLst>
      <p:ext uri="{BB962C8B-B14F-4D97-AF65-F5344CB8AC3E}">
        <p14:creationId xmlns:p14="http://schemas.microsoft.com/office/powerpoint/2010/main" val="17078694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08C1155-812C-476A-8605-CC80C44E8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主管的小失败：周五还能交付吗</a:t>
            </a:r>
          </a:p>
        </p:txBody>
      </p:sp>
      <p:sp>
        <p:nvSpPr>
          <p:cNvPr id="2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CEFD4F71-674C-4A96-9644-14B5FDF64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新手版</a:t>
            </a:r>
          </a:p>
        </p:txBody>
      </p:sp>
      <p:sp>
        <p:nvSpPr>
          <p:cNvPr id="3" name="footer-page">
            <a:extLst xmlns:a="http://schemas.openxmlformats.org/drawingml/2006/main">
              <a:ext uri="{FF2B5EF4-FFF2-40B4-BE49-F238E27FC236}">
                <a16:creationId xmlns:a16="http://schemas.microsoft.com/office/drawing/2014/main" id="{6EDD8FDC-2D51-46B3-AADD-E573BE9F6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02 / 18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5678BC1-B59C-40BA-B863-3D2039EDE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3352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承诺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59C1F86-2EB1-4840-B493-2D8CDA5D2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0482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“审批也一起加上，</a:t>
            </a:r>
          </a:p>
          <a:p xmlns:a="http://schemas.openxmlformats.org/drawingml/2006/main">
            <a:pPr algn="l">
              <a:defRPr sz="315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还是周五给客户。”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0A89D78-EC5A-4270-AC86-316DD2437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9775"/>
            <a:ext cx="781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期待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EF8F00D-7304-46DB-A9A8-6513F1DFA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2009775"/>
            <a:ext cx="44481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基础预约按原计划试用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D5BB396-A9B2-4DA7-9BE5-5732758C3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48000"/>
            <a:ext cx="781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行动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7C54BC14-3C51-4980-88A4-58E7CE9C9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3048000"/>
            <a:ext cx="44481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看到页面后，承诺同日增加审批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FA2EBCB-8501-4966-B7EC-8237107B3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86225"/>
            <a:ext cx="781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后果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F6BA4068-3E3A-46E3-8507-A3DF81024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4086225"/>
            <a:ext cx="44481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审批规则未定，试用暂缓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2B74FA23-3A5D-47F4-AFAF-5766C8BF9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第一步：核对原范围、验收状态与新增影响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05BADFEA-2FAF-489A-9DFD-1717F59D7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虚构教学情境</a:t>
            </a:r>
          </a:p>
        </p:txBody>
      </p:sp>
    </p:spTree>
    <p:extLst>
      <p:ext uri="{BB962C8B-B14F-4D97-AF65-F5344CB8AC3E}">
        <p14:creationId xmlns:p14="http://schemas.microsoft.com/office/powerpoint/2010/main" val="20988371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FA43D86-390A-4848-98EC-183CFB892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工程师的小失败：测试绿了，规则错了</a:t>
            </a:r>
          </a:p>
        </p:txBody>
      </p:sp>
      <p:sp>
        <p:nvSpPr>
          <p:cNvPr id="2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FE6D1AD9-6368-4F3D-9AE0-7F1F9B1A9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新手版</a:t>
            </a:r>
          </a:p>
        </p:txBody>
      </p:sp>
      <p:sp>
        <p:nvSpPr>
          <p:cNvPr id="3" name="footer-page">
            <a:extLst xmlns:a="http://schemas.openxmlformats.org/drawingml/2006/main">
              <a:ext uri="{FF2B5EF4-FFF2-40B4-BE49-F238E27FC236}">
                <a16:creationId xmlns:a16="http://schemas.microsoft.com/office/drawing/2014/main" id="{50969D24-6B30-4BA8-98B3-03CAD9466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03 / 18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1EA15E2F-422E-44E9-A8A9-F3C5199A8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3352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验证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B8E3905-3AFD-47FF-96A6-FED818ED8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0482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“相邻预约修好了。</a:t>
            </a:r>
          </a:p>
          <a:p xmlns:a="http://schemas.openxmlformats.org/drawingml/2006/main">
            <a:pPr algn="l">
              <a:defRPr sz="315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但重叠预约也成功了。”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7068F5D-92D9-4316-84EB-4FDC01FFA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9775"/>
            <a:ext cx="781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期待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25EB89F-3A2A-4FAE-AE88-43A84D6AD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2009775"/>
            <a:ext cx="44481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11:00 接着 10:00—11:00，可以预约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C10A579-1312-4E4A-80AA-00945CBD5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48000"/>
            <a:ext cx="781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行动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E2BAEAA-F909-492E-B6E8-B38AA8EB1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3048000"/>
            <a:ext cx="44481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AI 同时修改逻辑与测试预期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E91E7DFF-6C67-4CC9-A7C6-9BCFBAB41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86225"/>
            <a:ext cx="781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后果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E040B463-8EBC-4629-B911-129EB28E6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4086225"/>
            <a:ext cx="44481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10:30—11:30 也能提交，暂缓合并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D75D472-8C28-4730-BAE5-C173DF569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第一步：依据业务例子，独立核对测试预期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CE00C68F-6FF6-4648-A744-63E83B8B2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虚构教学情境</a:t>
            </a:r>
          </a:p>
        </p:txBody>
      </p:sp>
    </p:spTree>
    <p:extLst>
      <p:ext uri="{BB962C8B-B14F-4D97-AF65-F5344CB8AC3E}">
        <p14:creationId xmlns:p14="http://schemas.microsoft.com/office/powerpoint/2010/main" val="202461791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F0B2D61-B0B5-4704-8B68-5DB757743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新手的小失败：刷新后，预约不见了</a:t>
            </a:r>
          </a:p>
        </p:txBody>
      </p:sp>
      <p:sp>
        <p:nvSpPr>
          <p:cNvPr id="2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C90594A6-A939-4569-9DCD-0E5300354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新手版</a:t>
            </a:r>
          </a:p>
        </p:txBody>
      </p:sp>
      <p:sp>
        <p:nvSpPr>
          <p:cNvPr id="3" name="footer-page">
            <a:extLst xmlns:a="http://schemas.openxmlformats.org/drawingml/2006/main">
              <a:ext uri="{FF2B5EF4-FFF2-40B4-BE49-F238E27FC236}">
                <a16:creationId xmlns:a16="http://schemas.microsoft.com/office/drawing/2014/main" id="{2F83DD75-D1DE-470B-A04A-2FCC73DB0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04 / 18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19FA87A-89E4-45D1-A8A8-DE1A503B1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3352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起步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6B3B777-ABC5-440F-BFA1-F7954BFCF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0482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“页面已经做好了，</a:t>
            </a:r>
          </a:p>
          <a:p xmlns:a="http://schemas.openxmlformats.org/drawingml/2006/main">
            <a:pPr algn="l">
              <a:defRPr sz="315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先别刷新。”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99495D7-825C-42B3-A1DB-151CCE155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9775"/>
            <a:ext cx="781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期待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2E848BF-CA6E-4882-822D-8784F6844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2009775"/>
            <a:ext cx="44481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做一个好用的预约工具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949CEF2-1E24-44A6-B535-0DF743A28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48000"/>
            <a:ext cx="781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行动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1D7EEA0-AE84-4D85-96E6-843633AB7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3048000"/>
            <a:ext cx="44481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只描述想要的页面与按钮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162E63F-E628-496E-9885-4E15002AC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86225"/>
            <a:ext cx="781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后果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65D4F956-1229-4BC3-BF56-1BB72D95B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4086225"/>
            <a:ext cx="44481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刷新丢记录，不知怎样描述问题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37C5FA9D-5144-4461-90E5-130DA6C58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第一步：写下可操作、可复查的验收例子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55E6DD0D-CEF5-46E5-BC3F-F86813A0E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虚构教学情境</a:t>
            </a:r>
          </a:p>
        </p:txBody>
      </p:sp>
    </p:spTree>
    <p:extLst>
      <p:ext uri="{BB962C8B-B14F-4D97-AF65-F5344CB8AC3E}">
        <p14:creationId xmlns:p14="http://schemas.microsoft.com/office/powerpoint/2010/main" val="9904582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57E79D9-274C-482C-93C6-436CF3729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一个软件里发生了什么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B0B5CDD7-51CB-4945-ACE0-F16FC479A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点击预约后，页面之外还有工作</a:t>
            </a:r>
          </a:p>
        </p:txBody>
      </p:sp>
      <p:sp>
        <p:nvSpPr>
          <p:cNvPr id="3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3C715B39-0E2D-4DEF-95C0-0BDEBEDFC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新手版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7F66E928-E391-418F-8965-A2CF0B10C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05 / 18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85124E4-9AEE-41FF-995E-B2D3C2DFA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2457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页面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1EDA0AC-7633-46F0-AE4F-CB6534473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85975"/>
            <a:ext cx="8248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收集日期、时间与预约信息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EADC283-B63D-4D99-A3DF-624EA4A26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2457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接口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393C3EB-B70B-404B-B4A3-DBBB14447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05125"/>
            <a:ext cx="8248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把操作发给运行中的程序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70C6A558-7A50-4ABE-BADC-69A64E6B1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24275"/>
            <a:ext cx="2457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规则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AC8A601-7314-49E9-8B6D-ED034615F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724275"/>
            <a:ext cx="8248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判断时间是否有效、是否冲突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4BD04E16-B9EC-423C-AFAC-CB3325FEB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2457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数据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666C18AF-5CE3-44F0-B366-6ABC026F7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543425"/>
            <a:ext cx="8248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保存预约，供下次查看与取消</a:t>
            </a:r>
          </a:p>
        </p:txBody>
      </p:sp>
      <p:sp>
        <p:nvSpPr>
          <p:cNvPr id="13" name="takeaway">
            <a:extLst xmlns:a="http://schemas.openxmlformats.org/drawingml/2006/main">
              <a:ext uri="{FF2B5EF4-FFF2-40B4-BE49-F238E27FC236}">
                <a16:creationId xmlns:a16="http://schemas.microsoft.com/office/drawing/2014/main" id="{28856506-38EE-411B-8B39-8660CB263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刷新后仍有记录，需要程序读取已经保存的数据</a:t>
            </a:r>
          </a:p>
        </p:txBody>
      </p:sp>
    </p:spTree>
    <p:extLst>
      <p:ext uri="{BB962C8B-B14F-4D97-AF65-F5344CB8AC3E}">
        <p14:creationId xmlns:p14="http://schemas.microsoft.com/office/powerpoint/2010/main" val="135108253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02BF045-5F5F-43E7-935F-740226D68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一张客户场景卡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108C714D-A068-4B6D-B3D1-ED1E9394B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把“做个好用的系统”变成一件可检查的事</a:t>
            </a:r>
          </a:p>
        </p:txBody>
      </p:sp>
      <p:sp>
        <p:nvSpPr>
          <p:cNvPr id="3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BC9FA7AD-E244-4792-A54F-F0BA5DB19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新手版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8BD67AA8-5A26-4CAB-B148-BFF00FAF0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06 / 18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F75E3FE-5F52-44A5-9779-E085C5E71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523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四个问题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B43A9F1-3D87-4C75-9502-B5B4D0BEA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谁要使用：部门同事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FCA71C5-C111-4043-8026-42F12C884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想完成什么：找到空闲时段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25398A8-77A6-44C5-A2ED-5ADEE33F8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输入什么：日期与开始结束时间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3E2A639E-36C7-4319-82DE-00E3B23D6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看到什么：预约成功或清楚拒绝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102CC48-00B4-4626-99E3-C96999A8C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47875"/>
            <a:ext cx="523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练习边界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E32FDD75-52FB-4907-B367-180747CE1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051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一间会议室，09:00—18:00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1DEF285-89B3-415D-AA3C-7365E2FC5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909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时间只能落在半小时边界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1703B9CF-E2FD-42CD-AFCC-A1C84359C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767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每次预约在同一日期内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E4B5A390-DC28-4CA2-8F6E-76E267EDE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7625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本地练习，无登录与审批</a:t>
            </a:r>
          </a:p>
        </p:txBody>
      </p:sp>
      <p:sp>
        <p:nvSpPr>
          <p:cNvPr id="15" name="takeaway">
            <a:extLst xmlns:a="http://schemas.openxmlformats.org/drawingml/2006/main">
              <a:ext uri="{FF2B5EF4-FFF2-40B4-BE49-F238E27FC236}">
                <a16:creationId xmlns:a16="http://schemas.microsoft.com/office/drawing/2014/main" id="{A187FE79-1FF2-4234-8818-1CE588072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业务负责人指定验收人，真实客户要求需单独确认</a:t>
            </a:r>
          </a:p>
        </p:txBody>
      </p:sp>
    </p:spTree>
    <p:extLst>
      <p:ext uri="{BB962C8B-B14F-4D97-AF65-F5344CB8AC3E}">
        <p14:creationId xmlns:p14="http://schemas.microsoft.com/office/powerpoint/2010/main" val="14543215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9EB0F55-0857-480B-B72F-7ABE788FA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我能亲手检查的验收例子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4C30273A-8B66-47EF-B823-E64300EC0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先写预期，再运行应用</a:t>
            </a:r>
          </a:p>
        </p:txBody>
      </p:sp>
      <p:sp>
        <p:nvSpPr>
          <p:cNvPr id="3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F16FFDFF-215E-4542-9480-6D5042F45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新手版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9B4EC097-D272-4FD3-A7EC-03770AB46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07 / 18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109728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4476750"/>
                <a:gridCol w="4495800"/>
              </a:tblGrid>
              <a:tr h="7239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验收</a:t>
                      </a:r>
                    </a:p>
                  </a:txBody>
                  <a:tcPr marL="152400" marR="152400" marT="104775" marB="104775" anchor="ctr">
                    <a:solidFill>
                      <a:srgbClr val="A260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我的操作</a:t>
                      </a:r>
                    </a:p>
                  </a:txBody>
                  <a:tcPr marL="152400" marR="152400" marT="104775" marB="104775" anchor="ctr">
                    <a:solidFill>
                      <a:srgbClr val="A260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应该发生什么</a:t>
                      </a:r>
                    </a:p>
                  </a:txBody>
                  <a:tcPr marL="152400" marR="152400" marT="104775" marB="104775" anchor="ctr">
                    <a:solidFill>
                      <a:srgbClr val="A26035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A02 建立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提交一个有效预约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显示成功，并出现在列表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A03 冲突</a:t>
                      </a:r>
                    </a:p>
                  </a:txBody>
                  <a:tcPr marL="152400" marR="152400" marT="104775" marB="104775" anchor="ctr"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对同一时段再次预约</a:t>
                      </a:r>
                    </a:p>
                  </a:txBody>
                  <a:tcPr marL="152400" marR="152400" marT="104775" marB="104775" anchor="ctr"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拒绝，说明时间冲突</a:t>
                      </a:r>
                    </a:p>
                  </a:txBody>
                  <a:tcPr marL="152400" marR="152400" marT="104775" marB="104775" anchor="ctr">
                    <a:solidFill>
                      <a:srgbClr val="FAF8F3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A04 取消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取消后再约原时段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原时段重新可用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A05 保存</a:t>
                      </a:r>
                    </a:p>
                  </a:txBody>
                  <a:tcPr marL="152400" marR="152400" marT="104775" marB="104775" anchor="ctr"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刷新页面并重启服务</a:t>
                      </a:r>
                    </a:p>
                  </a:txBody>
                  <a:tcPr marL="152400" marR="152400" marT="104775" marB="104775" anchor="ctr"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预约记录仍然存在</a:t>
                      </a:r>
                    </a:p>
                  </a:txBody>
                  <a:tcPr marL="152400" marR="152400" marT="104775" marB="104775" anchor="ctr">
                    <a:solidFill>
                      <a:srgbClr val="FAF8F3"/>
                    </a:solidFill>
                  </a:tcPr>
                </a:tc>
              </a:tr>
            </a:tbl>
          </a:graphicData>
        </a:graphic>
      </p:graphicFrame>
      <p:sp>
        <p:nvSpPr>
          <p:cNvPr id="6" name="takeaway">
            <a:extLst xmlns:a="http://schemas.openxmlformats.org/drawingml/2006/main">
              <a:ext uri="{FF2B5EF4-FFF2-40B4-BE49-F238E27FC236}">
                <a16:creationId xmlns:a16="http://schemas.microsoft.com/office/drawing/2014/main" id="{1EC2F017-8A51-4F1A-848F-FC12470A6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验收记录写实际结果，遇到不同结果就保留问题</a:t>
            </a:r>
          </a:p>
        </p:txBody>
      </p:sp>
    </p:spTree>
    <p:extLst>
      <p:ext uri="{BB962C8B-B14F-4D97-AF65-F5344CB8AC3E}">
        <p14:creationId xmlns:p14="http://schemas.microsoft.com/office/powerpoint/2010/main" val="102235762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9C39E66-C8B7-4FFC-938F-8DF4A8150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4A：从四个角度看小工具</a:t>
            </a:r>
          </a:p>
        </p:txBody>
      </p:sp>
      <p:sp>
        <p:nvSpPr>
          <p:cNvPr id="2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C5162EB1-41CC-4460-9281-B753B855C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新手版</a:t>
            </a:r>
          </a:p>
        </p:txBody>
      </p:sp>
      <p:sp>
        <p:nvSpPr>
          <p:cNvPr id="3" name="footer-page">
            <a:extLst xmlns:a="http://schemas.openxmlformats.org/drawingml/2006/main">
              <a:ext uri="{FF2B5EF4-FFF2-40B4-BE49-F238E27FC236}">
                <a16:creationId xmlns:a16="http://schemas.microsoft.com/office/drawing/2014/main" id="{3B2E73EF-40FC-4F1B-9B07-677EDD684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08 / 18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D42F7BAE-9B35-41FC-9592-650CA2834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同一需求映射到流程、职责、数据和运行环境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5610DD5-8F83-4A92-AAF1-446FD33E1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66925"/>
            <a:ext cx="800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BA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33FE919-FD49-4E6B-92FE-B2DA894EF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业务架构</a:t>
            </a:r>
          </a:p>
        </p:txBody>
      </p:sp>
      <p:sp>
        <p:nvSpPr>
          <p:cNvPr id="7" name="4A-BA-0">
            <a:extLst xmlns:a="http://schemas.openxmlformats.org/drawingml/2006/main">
              <a:ext uri="{FF2B5EF4-FFF2-40B4-BE49-F238E27FC236}">
                <a16:creationId xmlns:a16="http://schemas.microsoft.com/office/drawing/2014/main" id="{091CBA75-EE8B-4667-8BCF-A4D4192FC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000250"/>
            <a:ext cx="2714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A26035"/>
            </a:solidFill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查看空闲</a:t>
            </a:r>
          </a:p>
        </p:txBody>
      </p:sp>
      <p:sp>
        <p:nvSpPr>
          <p:cNvPr id="8" name="4A-BA-1">
            <a:extLst xmlns:a="http://schemas.openxmlformats.org/drawingml/2006/main">
              <a:ext uri="{FF2B5EF4-FFF2-40B4-BE49-F238E27FC236}">
                <a16:creationId xmlns:a16="http://schemas.microsoft.com/office/drawing/2014/main" id="{14E8FE65-5DFA-4807-8B91-168F79097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00250"/>
            <a:ext cx="2714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A26035"/>
            </a:solidFill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提交预约 / 取消</a:t>
            </a:r>
          </a:p>
        </p:txBody>
      </p:sp>
      <p:sp>
        <p:nvSpPr>
          <p:cNvPr id="9" name="4A-BA-2">
            <a:extLst xmlns:a="http://schemas.openxmlformats.org/drawingml/2006/main">
              <a:ext uri="{FF2B5EF4-FFF2-40B4-BE49-F238E27FC236}">
                <a16:creationId xmlns:a16="http://schemas.microsoft.com/office/drawing/2014/main" id="{6C1F352B-AF34-43F3-9DEE-FF87EF7FA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00250"/>
            <a:ext cx="2714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A26035"/>
            </a:solidFill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结果提示</a:t>
            </a:r>
          </a:p>
        </p:txBody>
      </p:sp>
      <p:cxnSp>
        <p:nvCxnSpPr>
          <p:cNvPr id="43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095875" y="236220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A26035"/>
            </a:solidFill>
            <a:tailEnd type="triangle" w="sm" len="sm"/>
          </a:ln>
        </p:spPr>
      </p:cxnSp>
      <p:cxnSp>
        <p:nvCxnSpPr>
          <p:cNvPr id="44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8143875" y="236220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A26035"/>
            </a:solidFill>
            <a:tailEnd type="triangle" w="sm" len="sm"/>
          </a:ln>
        </p:spPr>
      </p:cxn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AAF5C50A-AE4C-44BA-BB58-E48798ACB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62275"/>
            <a:ext cx="800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AA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F7D34184-77D8-477E-9BD5-A6AFAA89E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24225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应用架构</a:t>
            </a:r>
          </a:p>
        </p:txBody>
      </p:sp>
      <p:sp>
        <p:nvSpPr>
          <p:cNvPr id="14" name="4A-AA-0">
            <a:extLst xmlns:a="http://schemas.openxmlformats.org/drawingml/2006/main">
              <a:ext uri="{FF2B5EF4-FFF2-40B4-BE49-F238E27FC236}">
                <a16:creationId xmlns:a16="http://schemas.microsoft.com/office/drawing/2014/main" id="{CCB8E7D4-6DDB-4BA6-82C9-C4A1050FC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895600"/>
            <a:ext cx="2714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A26035"/>
            </a:solidFill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原生页面</a:t>
            </a:r>
          </a:p>
        </p:txBody>
      </p:sp>
      <p:sp>
        <p:nvSpPr>
          <p:cNvPr id="15" name="4A-AA-1">
            <a:extLst xmlns:a="http://schemas.openxmlformats.org/drawingml/2006/main">
              <a:ext uri="{FF2B5EF4-FFF2-40B4-BE49-F238E27FC236}">
                <a16:creationId xmlns:a16="http://schemas.microsoft.com/office/drawing/2014/main" id="{9407FA97-746C-435B-897D-42ABEB508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895600"/>
            <a:ext cx="2714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A26035"/>
            </a:solidFill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HTTP 接口与校验</a:t>
            </a:r>
          </a:p>
        </p:txBody>
      </p:sp>
      <p:sp>
        <p:nvSpPr>
          <p:cNvPr id="16" name="4A-AA-2">
            <a:extLst xmlns:a="http://schemas.openxmlformats.org/drawingml/2006/main">
              <a:ext uri="{FF2B5EF4-FFF2-40B4-BE49-F238E27FC236}">
                <a16:creationId xmlns:a16="http://schemas.microsoft.com/office/drawing/2014/main" id="{D628F810-ACBA-47DB-869C-EC48FD7F6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95600"/>
            <a:ext cx="2714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A26035"/>
            </a:solidFill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预约数据存取</a:t>
            </a:r>
          </a:p>
        </p:txBody>
      </p:sp>
      <p:cxnSp>
        <p:nvCxnSpPr>
          <p:cNvPr id="50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5095875" y="325755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A26035"/>
            </a:solidFill>
            <a:tailEnd type="triangle" w="sm" len="sm"/>
          </a:ln>
        </p:spPr>
      </p:cxnSp>
      <p:cxnSp>
        <p:nvCxnSpPr>
          <p:cNvPr id="51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143875" y="325755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A26035"/>
            </a:solidFill>
            <a:tailEnd type="triangle" w="sm" len="sm"/>
          </a:ln>
        </p:spPr>
      </p:cxn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89167236-24EB-4E76-BE54-640B33893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800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DA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0983560B-0A06-4DD6-A18B-699B8CC82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9575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数据架构</a:t>
            </a:r>
          </a:p>
        </p:txBody>
      </p:sp>
      <p:sp>
        <p:nvSpPr>
          <p:cNvPr id="21" name="4A-DA-0">
            <a:extLst xmlns:a="http://schemas.openxmlformats.org/drawingml/2006/main">
              <a:ext uri="{FF2B5EF4-FFF2-40B4-BE49-F238E27FC236}">
                <a16:creationId xmlns:a16="http://schemas.microsoft.com/office/drawing/2014/main" id="{A07447EC-89DF-4F37-AE0A-D8BF18A84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790950"/>
            <a:ext cx="2714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A26035"/>
            </a:solidFill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预约记录</a:t>
            </a:r>
          </a:p>
        </p:txBody>
      </p:sp>
      <p:sp>
        <p:nvSpPr>
          <p:cNvPr id="22" name="4A-DA-1">
            <a:extLst xmlns:a="http://schemas.openxmlformats.org/drawingml/2006/main">
              <a:ext uri="{FF2B5EF4-FFF2-40B4-BE49-F238E27FC236}">
                <a16:creationId xmlns:a16="http://schemas.microsoft.com/office/drawing/2014/main" id="{AC96D102-BE33-4A96-B4A7-842A1ECA6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790950"/>
            <a:ext cx="2714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A26035"/>
            </a:solidFill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1 对多占用格</a:t>
            </a:r>
          </a:p>
        </p:txBody>
      </p:sp>
      <p:sp>
        <p:nvSpPr>
          <p:cNvPr id="23" name="4A-DA-2">
            <a:extLst xmlns:a="http://schemas.openxmlformats.org/drawingml/2006/main">
              <a:ext uri="{FF2B5EF4-FFF2-40B4-BE49-F238E27FC236}">
                <a16:creationId xmlns:a16="http://schemas.microsoft.com/office/drawing/2014/main" id="{20163AFC-A806-4379-BD70-D13DA9491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790950"/>
            <a:ext cx="2714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A26035"/>
            </a:solidFill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同日每格唯一</a:t>
            </a:r>
          </a:p>
        </p:txBody>
      </p:sp>
      <p:cxnSp>
        <p:nvCxnSpPr>
          <p:cNvPr id="57" name=""/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5095875" y="415290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A26035"/>
            </a:solidFill>
            <a:tailEnd type="none" w="sm" len="sm"/>
          </a:ln>
        </p:spPr>
      </p:cxnSp>
      <p:cxnSp>
        <p:nvCxnSpPr>
          <p:cNvPr id="58" name=""/>
          <p:cNvCxnSpPr>
            <a:stCxn xmlns:a="http://schemas.openxmlformats.org/drawingml/2006/main" id="22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8143875" y="415290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A26035"/>
            </a:solidFill>
            <a:tailEnd type="none" w="sm" len="sm"/>
          </a:ln>
        </p:spPr>
      </p:cxn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25A455E2-0C29-490A-93E4-59EE4B72A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52975"/>
            <a:ext cx="800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TA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CA4FFCC7-B96F-4E3B-BBB9-91435D49B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14925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技术架构</a:t>
            </a:r>
          </a:p>
        </p:txBody>
      </p:sp>
      <p:sp>
        <p:nvSpPr>
          <p:cNvPr id="28" name="4A-TA-0">
            <a:extLst xmlns:a="http://schemas.openxmlformats.org/drawingml/2006/main">
              <a:ext uri="{FF2B5EF4-FFF2-40B4-BE49-F238E27FC236}">
                <a16:creationId xmlns:a16="http://schemas.microsoft.com/office/drawing/2014/main" id="{25C318DD-3048-4059-ACE9-EAA0C9B51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686300"/>
            <a:ext cx="2714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A26035"/>
            </a:solidFill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本机浏览器</a:t>
            </a:r>
          </a:p>
        </p:txBody>
      </p:sp>
      <p:sp>
        <p:nvSpPr>
          <p:cNvPr id="29" name="4A-TA-1">
            <a:extLst xmlns:a="http://schemas.openxmlformats.org/drawingml/2006/main">
              <a:ext uri="{FF2B5EF4-FFF2-40B4-BE49-F238E27FC236}">
                <a16:creationId xmlns:a16="http://schemas.microsoft.com/office/drawing/2014/main" id="{1F661F7B-19AD-45A5-9926-7E97736BA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686300"/>
            <a:ext cx="2714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A26035"/>
            </a:solidFill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Python 3 服务</a:t>
            </a:r>
          </a:p>
        </p:txBody>
      </p:sp>
      <p:sp>
        <p:nvSpPr>
          <p:cNvPr id="30" name="4A-TA-2">
            <a:extLst xmlns:a="http://schemas.openxmlformats.org/drawingml/2006/main">
              <a:ext uri="{FF2B5EF4-FFF2-40B4-BE49-F238E27FC236}">
                <a16:creationId xmlns:a16="http://schemas.microsoft.com/office/drawing/2014/main" id="{E9E1411F-1025-4039-880D-64920D0BE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686300"/>
            <a:ext cx="2714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A26035"/>
            </a:solidFill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SQLite 文件</a:t>
            </a:r>
          </a:p>
        </p:txBody>
      </p:sp>
      <p:cxnSp>
        <p:nvCxnSpPr>
          <p:cNvPr id="64" name=""/>
          <p:cNvCxnSpPr>
            <a:stCxn xmlns:a="http://schemas.openxmlformats.org/drawingml/2006/main" id="28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5095875" y="504825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A26035"/>
            </a:solidFill>
            <a:tailEnd type="triangle" w="sm" len="sm"/>
          </a:ln>
        </p:spPr>
      </p:cxnSp>
      <p:cxnSp>
        <p:nvCxnSpPr>
          <p:cNvPr id="65" name=""/>
          <p:cNvCxnSpPr>
            <a:stCxn xmlns:a="http://schemas.openxmlformats.org/drawingml/2006/main" id="29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8143875" y="504825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A26035"/>
            </a:solidFill>
            <a:tailEnd type="triangle" w="sm" len="sm"/>
          </a:ln>
        </p:spPr>
      </p:cxnSp>
      <p:sp>
        <p:nvSpPr>
          <p:cNvPr id="33" name="takeaway">
            <a:extLst xmlns:a="http://schemas.openxmlformats.org/drawingml/2006/main">
              <a:ext uri="{FF2B5EF4-FFF2-40B4-BE49-F238E27FC236}">
                <a16:creationId xmlns:a16="http://schemas.microsoft.com/office/drawing/2014/main" id="{29D731FF-4CB0-449B-9938-CEC4B2A74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业务怎样办、程序怎样分工、数据怎样存、技术怎样运行</a:t>
            </a:r>
          </a:p>
        </p:txBody>
      </p:sp>
    </p:spTree>
    <p:extLst>
      <p:ext uri="{BB962C8B-B14F-4D97-AF65-F5344CB8AC3E}">
        <p14:creationId xmlns:p14="http://schemas.microsoft.com/office/powerpoint/2010/main" val="80584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2E3CB3B-68E0-47DB-88AE-CBB908394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第一次启动本地工具</a:t>
            </a:r>
          </a:p>
        </p:txBody>
      </p:sp>
      <p:sp>
        <p:nvSpPr>
          <p:cNvPr id="2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4EC28E31-D69E-470F-824D-40D17E88F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新手版</a:t>
            </a:r>
          </a:p>
        </p:txBody>
      </p:sp>
      <p:sp>
        <p:nvSpPr>
          <p:cNvPr id="3" name="footer-page">
            <a:extLst xmlns:a="http://schemas.openxmlformats.org/drawingml/2006/main">
              <a:ext uri="{FF2B5EF4-FFF2-40B4-BE49-F238E27FC236}">
                <a16:creationId xmlns:a16="http://schemas.microsoft.com/office/drawing/2014/main" id="{C5AEEF92-DD6F-42C6-A199-ADE3B3A82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09 / 18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7E83BDB6-4961-41DE-B3F7-E02E671EA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在项目根目录运行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EF56DFB-32BF-4345-912C-D15923D2D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62225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python3 demo/app.py --port 8765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E09C229-3734-4F26-90A2-7F0378EE6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在浏览器打开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A0CCE32-C077-4709-A6A9-0D66AF58F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http://127.0.0.1:8765</a:t>
            </a:r>
          </a:p>
        </p:txBody>
      </p:sp>
      <p:sp>
        <p:nvSpPr>
          <p:cNvPr id="8" name="takeaway">
            <a:extLst xmlns:a="http://schemas.openxmlformats.org/drawingml/2006/main">
              <a:ext uri="{FF2B5EF4-FFF2-40B4-BE49-F238E27FC236}">
                <a16:creationId xmlns:a16="http://schemas.microsoft.com/office/drawing/2014/main" id="{B122BF56-96F5-4B0C-B090-ED6E1AD20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终端保持运行，全部使用虚构预约信息</a:t>
            </a:r>
          </a:p>
        </p:txBody>
      </p:sp>
    </p:spTree>
    <p:extLst>
      <p:ext uri="{BB962C8B-B14F-4D97-AF65-F5344CB8AC3E}">
        <p14:creationId xmlns:p14="http://schemas.microsoft.com/office/powerpoint/2010/main" val="52425709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8405D3A-35DD-43AD-8DB2-A2B6D8C23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一次成功预约与刷新检查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EEDF8710-0324-4ABD-942A-3D4CA2E0F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A01、A02、A05：查看、建立与保存</a:t>
            </a:r>
          </a:p>
        </p:txBody>
      </p:sp>
      <p:sp>
        <p:nvSpPr>
          <p:cNvPr id="3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3E51E6E9-C048-4BDD-9A68-1022508DB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新手版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BA20B23E-1CAD-472E-A916-A495FC855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10 / 18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E655D26-2280-447F-AA5B-659BBAF77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809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D3289F0-29A5-4497-9F77-999B9EB90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085975"/>
            <a:ext cx="31242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选定同一日期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A100DB3-1E4A-4FED-A02A-7E140083A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085975"/>
            <a:ext cx="657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查看会议室当天的已有预约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82095A9-4ABB-42BD-8A96-18B020D31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809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F7BDB6C7-0410-4069-9A5E-91407F81F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924175"/>
            <a:ext cx="31242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提交空闲时段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FD1BA75-0384-4123-BCEA-B99AB3DBA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924175"/>
            <a:ext cx="657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例如 10:00—11:00，填写虚构信息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F22089CE-5495-4CC9-8278-8ACCB860B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62375"/>
            <a:ext cx="809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FF2315E-C033-4A01-9A97-6C96976D6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762375"/>
            <a:ext cx="31242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记录实际结果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E7AB6F68-C049-4C50-9CD2-5AF2C8460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762375"/>
            <a:ext cx="657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成功提示、列表内容与预约标识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5F8BF789-87E5-47A3-BAF4-2D1FFABD8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00575"/>
            <a:ext cx="809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59254654-A96C-4E3A-A8DC-23055C641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600575"/>
            <a:ext cx="31242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刷新再查看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73CE3ECF-D109-49EE-964F-4381AD78A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600575"/>
            <a:ext cx="657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保持相同日期，核对预约仍然存在</a:t>
            </a:r>
          </a:p>
        </p:txBody>
      </p:sp>
      <p:sp>
        <p:nvSpPr>
          <p:cNvPr id="17" name="takeaway">
            <a:extLst xmlns:a="http://schemas.openxmlformats.org/drawingml/2006/main">
              <a:ext uri="{FF2B5EF4-FFF2-40B4-BE49-F238E27FC236}">
                <a16:creationId xmlns:a16="http://schemas.microsoft.com/office/drawing/2014/main" id="{52DC0C81-8CEF-4089-AD56-822F62B76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重启服务后还应检查一次，记录与刷新验收分开</a:t>
            </a:r>
          </a:p>
        </p:txBody>
      </p:sp>
    </p:spTree>
    <p:extLst>
      <p:ext uri="{BB962C8B-B14F-4D97-AF65-F5344CB8AC3E}">
        <p14:creationId xmlns:p14="http://schemas.microsoft.com/office/powerpoint/2010/main" val="210670074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21B0ABD-C4C7-4299-9EE4-941CC550C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相邻可以，重叠不可以</a:t>
            </a:r>
          </a:p>
        </p:txBody>
      </p:sp>
      <p:sp>
        <p:nvSpPr>
          <p:cNvPr id="2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1133B4E9-2BAF-4527-B19E-8A03858A5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新手版</a:t>
            </a:r>
          </a:p>
        </p:txBody>
      </p:sp>
      <p:sp>
        <p:nvSpPr>
          <p:cNvPr id="3" name="footer-page">
            <a:extLst xmlns:a="http://schemas.openxmlformats.org/drawingml/2006/main">
              <a:ext uri="{FF2B5EF4-FFF2-40B4-BE49-F238E27FC236}">
                <a16:creationId xmlns:a16="http://schemas.microsoft.com/office/drawing/2014/main" id="{D40CAD90-4E72-4DB2-A462-3986616A1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11 / 18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6C61803-2928-4B52-83DE-50E937C22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514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相邻时段允许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5480CE4-8FAA-4773-ABE0-F52F8A74D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52197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已有 10:00—11:00</a:t>
            </a:r>
          </a:p>
          <a:p xmlns:a="http://schemas.openxmlformats.org/drawingml/2006/main">
            <a:pPr algn="l">
              <a:defRPr sz="30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再约 11:00—12:00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6DF685E-D8F8-41CB-B4FD-DE288769E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81200"/>
            <a:ext cx="514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A24E3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A24E36"/>
                </a:solidFill>
                <a:latin typeface="Arial Unicode MS"/>
                <a:ea typeface="Arial Unicode MS"/>
                <a:cs typeface="Arial Unicode MS"/>
              </a:rPr>
              <a:t>重叠时段拒绝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5D4CAC2-24C3-42A5-B390-83EA4B0B4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48000"/>
            <a:ext cx="52197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已有 10:00—11:00</a:t>
            </a:r>
          </a:p>
          <a:p xmlns:a="http://schemas.openxmlformats.org/drawingml/2006/main">
            <a:pPr algn="l">
              <a:defRPr sz="30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再约 10:30—11:30</a:t>
            </a:r>
          </a:p>
        </p:txBody>
      </p:sp>
      <p:sp>
        <p:nvSpPr>
          <p:cNvPr id="8" name="takeaway">
            <a:extLst xmlns:a="http://schemas.openxmlformats.org/drawingml/2006/main">
              <a:ext uri="{FF2B5EF4-FFF2-40B4-BE49-F238E27FC236}">
                <a16:creationId xmlns:a16="http://schemas.microsoft.com/office/drawing/2014/main" id="{D881787F-7A76-49AB-9DAB-85B2B8FB2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随后取消原预约，再验证原时段重新可用</a:t>
            </a:r>
          </a:p>
        </p:txBody>
      </p:sp>
    </p:spTree>
    <p:extLst>
      <p:ext uri="{BB962C8B-B14F-4D97-AF65-F5344CB8AC3E}">
        <p14:creationId xmlns:p14="http://schemas.microsoft.com/office/powerpoint/2010/main" val="119802759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CA5CA3C-CFDB-475E-8A8C-51E0B003D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出现问题时的求助说明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2882CF23-F0FB-469C-8C51-435CB88B4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具体记录能让导师和 AI 更快定位</a:t>
            </a:r>
          </a:p>
        </p:txBody>
      </p:sp>
      <p:sp>
        <p:nvSpPr>
          <p:cNvPr id="3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E5A7171A-92BD-4847-8F4B-9C6D7A2F4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新手版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130E959F-C771-4E3F-9972-E088C0C0E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12 / 18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6376FF4-1277-4DFB-9DEE-3F03CAFF2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2457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我做了什么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A9776FA-3D56-4A9D-BADB-D99EC12E8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85975"/>
            <a:ext cx="8248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日期、输入、操作顺序与命令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438ED37-506F-488D-A931-55584984E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2457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我期待什么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8517638-CA96-49F7-A785-2BB6BBFA1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05125"/>
            <a:ext cx="8248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对应的验收例子与预期结果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F25C610-E3EE-435F-A5EA-C4CDE5E87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24275"/>
            <a:ext cx="2457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实际发生什么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A8A981C-3205-4591-A07D-49679A9B0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724275"/>
            <a:ext cx="8248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错误文字、界面变化与数据变化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61ADEFB8-C3DE-4D0B-AFD1-E0A583A4A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2457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运行环境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7BE9C63-DC36-4532-A4CF-0DBF91E28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543425"/>
            <a:ext cx="8248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系统、Python 版本、代码版本及是否重启</a:t>
            </a:r>
          </a:p>
        </p:txBody>
      </p:sp>
      <p:sp>
        <p:nvSpPr>
          <p:cNvPr id="13" name="takeaway">
            <a:extLst xmlns:a="http://schemas.openxmlformats.org/drawingml/2006/main">
              <a:ext uri="{FF2B5EF4-FFF2-40B4-BE49-F238E27FC236}">
                <a16:creationId xmlns:a16="http://schemas.microsoft.com/office/drawing/2014/main" id="{6FD16090-3D91-45F3-BC02-E3EA1F745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先复现同一问题，再尝试一项有理由的修改</a:t>
            </a:r>
          </a:p>
        </p:txBody>
      </p:sp>
    </p:spTree>
    <p:extLst>
      <p:ext uri="{BB962C8B-B14F-4D97-AF65-F5344CB8AC3E}">
        <p14:creationId xmlns:p14="http://schemas.microsoft.com/office/powerpoint/2010/main" val="61328108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DA89DA3-BF32-4285-9545-18C87D973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一个可用的 AI 任务说明</a:t>
            </a:r>
          </a:p>
        </p:txBody>
      </p:sp>
      <p:sp>
        <p:nvSpPr>
          <p:cNvPr id="2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6DFBF560-14EA-4A48-BE24-1095947EB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新手版</a:t>
            </a:r>
          </a:p>
        </p:txBody>
      </p:sp>
      <p:sp>
        <p:nvSpPr>
          <p:cNvPr id="3" name="footer-page">
            <a:extLst xmlns:a="http://schemas.openxmlformats.org/drawingml/2006/main">
              <a:ext uri="{FF2B5EF4-FFF2-40B4-BE49-F238E27FC236}">
                <a16:creationId xmlns:a16="http://schemas.microsoft.com/office/drawing/2014/main" id="{517F5D5B-0F80-44CF-B2D1-9CC815A41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13 / 18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1A6731A0-1D6D-4D34-9888-3BA4D0E35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场景：同事预约一间会议室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464D431-CDB8-4B42-B8E2-0ADDFE361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范围：只调整输入提示，不改变预约规则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4BECDB1-36D5-4C53-BD05-8A83CA1C1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验收：错误提示说清原因，旧用例继续通过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CD3573F-E54E-48E5-A35F-C10607F6E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过程：先解释计划，再列出修改与检查结果</a:t>
            </a:r>
          </a:p>
        </p:txBody>
      </p:sp>
      <p:sp>
        <p:nvSpPr>
          <p:cNvPr id="8" name="takeaway">
            <a:extLst xmlns:a="http://schemas.openxmlformats.org/drawingml/2006/main">
              <a:ext uri="{FF2B5EF4-FFF2-40B4-BE49-F238E27FC236}">
                <a16:creationId xmlns:a16="http://schemas.microsoft.com/office/drawing/2014/main" id="{74B73CE7-B522-4621-B7F8-F73F27595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长期规则放在 AGENTS.md，当前任务写清具体目标</a:t>
            </a:r>
          </a:p>
        </p:txBody>
      </p:sp>
    </p:spTree>
    <p:extLst>
      <p:ext uri="{BB962C8B-B14F-4D97-AF65-F5344CB8AC3E}">
        <p14:creationId xmlns:p14="http://schemas.microsoft.com/office/powerpoint/2010/main" val="126485896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82C17D9-2BCB-439A-901E-6BF985FCF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练习：午休时段不可预约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2BDB16AE-7FB4-4043-9C9B-552D3E9B3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这是新增练习要求，基线应用尚未包含</a:t>
            </a:r>
          </a:p>
        </p:txBody>
      </p:sp>
      <p:sp>
        <p:nvSpPr>
          <p:cNvPr id="3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B221D4B6-6973-4E21-8074-98BDC74D7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新手版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84E4FBC5-F477-40BA-BFDC-EDCAB38AC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14 / 18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A02A3CA-FC9D-4B73-A8B5-E8F1D5BBC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523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先说明规则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1A5E50A-DF53-4904-BB13-2D0D4721F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假设午休为 12:00—13:00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3D5664D-D667-4C25-85BB-64616E373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只要与午休重叠，就拒绝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52E1E30-DD0A-4143-BABE-4E5D9B59C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11:00—12:00 仍然允许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5672AC6B-9E90-4C3E-A9D8-B9BA8B57C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13:00—14:00 仍然允许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9A97DF6-EC27-4B25-9448-EB8266B35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47875"/>
            <a:ext cx="523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再完成验证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6E8A0FD1-574D-4561-9372-5F862EDA2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051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写正常与异常验收例子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FBD38D0A-8B6C-4E67-9971-C9247786A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909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请 AI 先给修改计划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B2DC5EC0-A932-4F44-B571-4F6FF0BAD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767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在导师指导下检查变更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EFE3FEFB-FD9E-4CE6-93F7-469F3B8DA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7625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运行旧用例并记录新结果</a:t>
            </a:r>
          </a:p>
        </p:txBody>
      </p:sp>
      <p:sp>
        <p:nvSpPr>
          <p:cNvPr id="15" name="takeaway">
            <a:extLst xmlns:a="http://schemas.openxmlformats.org/drawingml/2006/main">
              <a:ext uri="{FF2B5EF4-FFF2-40B4-BE49-F238E27FC236}">
                <a16:creationId xmlns:a16="http://schemas.microsoft.com/office/drawing/2014/main" id="{1C35373C-8F5D-49F4-88A0-29C854687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时间为教学假设，真实规则由业务确认</a:t>
            </a:r>
          </a:p>
        </p:txBody>
      </p:sp>
    </p:spTree>
    <p:extLst>
      <p:ext uri="{BB962C8B-B14F-4D97-AF65-F5344CB8AC3E}">
        <p14:creationId xmlns:p14="http://schemas.microsoft.com/office/powerpoint/2010/main" val="65085480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1D38293-D479-4451-AF6E-46AE75CBE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新要求：增加主管审批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A29D21EA-0C53-468F-BC2A-E2A3C349E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一个新按钮可能改变整个办事流程</a:t>
            </a:r>
          </a:p>
        </p:txBody>
      </p:sp>
      <p:sp>
        <p:nvSpPr>
          <p:cNvPr id="3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3FCDA752-9E64-4563-9005-DCF129A76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新手版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E35BBD8C-6DFA-4FF9-99F8-39C3333C0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15 / 18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FC7BE8D-668B-4955-8744-CB401DFCC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523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先向业务问清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B27AB5E-DF60-4464-BFC9-2BF1AFE06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谁可以审批，谁可以查看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78BB8173-5ADB-47CC-88BC-A366EEB02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等待审批时是否占用时段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14466B1-349A-453C-95BA-491AA22A6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驳回以后怎样通知与处理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EEBEA37-575E-424B-BED0-FA7FC10E8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旧预约如何继续使用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4C2A37D-6EFD-4571-846F-16443DEBA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47875"/>
            <a:ext cx="523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再讨论交付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8E308A80-BB91-4506-AB82-65AE194BE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051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比较原范围先交与分期方案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CD18AFE-B442-4502-A074-69DEF8EC3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909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评估数据、权限和测试变化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EF68A40A-3C79-40BD-81A2-50F44258B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767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保留原承诺与新预测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42B9AA84-16A3-4F8C-A7FB-F2DA7A6AF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7625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授权人确认后更新计划</a:t>
            </a:r>
          </a:p>
        </p:txBody>
      </p:sp>
      <p:sp>
        <p:nvSpPr>
          <p:cNvPr id="15" name="takeaway">
            <a:extLst xmlns:a="http://schemas.openxmlformats.org/drawingml/2006/main">
              <a:ext uri="{FF2B5EF4-FFF2-40B4-BE49-F238E27FC236}">
                <a16:creationId xmlns:a16="http://schemas.microsoft.com/office/drawing/2014/main" id="{E1FE1911-B255-490A-8C28-96206F994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审批是变更演练，不是本地示例已有功能</a:t>
            </a:r>
          </a:p>
        </p:txBody>
      </p:sp>
    </p:spTree>
    <p:extLst>
      <p:ext uri="{BB962C8B-B14F-4D97-AF65-F5344CB8AC3E}">
        <p14:creationId xmlns:p14="http://schemas.microsoft.com/office/powerpoint/2010/main" val="85136889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8C243E9-BAFF-4A5E-ADC4-DB71FB63A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交付前需要与客户说清的事项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35CDA0A5-CE8F-4851-97EC-65A2090AB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部署与 DfX 只做基础认识</a:t>
            </a:r>
          </a:p>
        </p:txBody>
      </p:sp>
      <p:sp>
        <p:nvSpPr>
          <p:cNvPr id="3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259012F2-FBE8-4D29-BEDF-95C2E8320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新手版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37A6B8BC-B062-4257-B401-208E03C6B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16 / 18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109728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762750"/>
                <a:gridCol w="4210050"/>
              </a:tblGrid>
              <a:tr h="7239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问题</a:t>
                      </a:r>
                    </a:p>
                  </a:txBody>
                  <a:tcPr marL="152400" marR="152400" marT="104775" marB="104775" anchor="ctr">
                    <a:solidFill>
                      <a:srgbClr val="A260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需要谁来确认</a:t>
                      </a:r>
                    </a:p>
                  </a:txBody>
                  <a:tcPr marL="152400" marR="152400" marT="104775" marB="104775" anchor="ctr">
                    <a:solidFill>
                      <a:srgbClr val="A26035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程序放在哪里，环境何时可用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客户与环境负责人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哪些人能访问，哪些数据可使用</a:t>
                      </a:r>
                    </a:p>
                  </a:txBody>
                  <a:tcPr marL="152400" marR="152400" marT="104775" marB="104775" anchor="ctr"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业务、IT 与安全相关负责人</a:t>
                      </a:r>
                    </a:p>
                  </a:txBody>
                  <a:tcPr marL="152400" marR="152400" marT="104775" marB="104775" anchor="ctr">
                    <a:solidFill>
                      <a:srgbClr val="FAF8F3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冲突、故障、性能怎样验收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业务与工程人员共同确认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谁运行维护，怎样备份和恢复</a:t>
                      </a:r>
                    </a:p>
                  </a:txBody>
                  <a:tcPr marL="152400" marR="152400" marT="104775" marB="104775" anchor="ctr"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运维与交付负责人</a:t>
                      </a:r>
                    </a:p>
                  </a:txBody>
                  <a:tcPr marL="152400" marR="152400" marT="104775" marB="104775" anchor="ctr">
                    <a:solidFill>
                      <a:srgbClr val="FAF8F3"/>
                    </a:solidFill>
                  </a:tcPr>
                </a:tc>
              </a:tr>
            </a:tbl>
          </a:graphicData>
        </a:graphic>
      </p:graphicFrame>
      <p:sp>
        <p:nvSpPr>
          <p:cNvPr id="6" name="takeaway">
            <a:extLst xmlns:a="http://schemas.openxmlformats.org/drawingml/2006/main">
              <a:ext uri="{FF2B5EF4-FFF2-40B4-BE49-F238E27FC236}">
                <a16:creationId xmlns:a16="http://schemas.microsoft.com/office/drawing/2014/main" id="{59A3349B-8BD6-4273-BE8E-57C8BCE87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本例运行在自己电脑上，真实部署需要额外设计与验证</a:t>
            </a:r>
          </a:p>
        </p:txBody>
      </p:sp>
    </p:spTree>
    <p:extLst>
      <p:ext uri="{BB962C8B-B14F-4D97-AF65-F5344CB8AC3E}">
        <p14:creationId xmlns:p14="http://schemas.microsoft.com/office/powerpoint/2010/main" val="107105339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8712E9F-4C79-4D4E-A1C1-BCEE4E04B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交付状态与工具求助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2CE96F8B-0FE0-4B58-AE5B-B8964910B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每次汇报都说清下一步需要什么</a:t>
            </a:r>
          </a:p>
        </p:txBody>
      </p:sp>
      <p:sp>
        <p:nvSpPr>
          <p:cNvPr id="3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82D37DA1-B891-4B55-B090-A79364BC5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新手版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8097C755-16A0-4501-AFA9-E174DD052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17 / 18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611BF4D-068C-4F42-BA0F-B64526F4D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523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状态记录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DCCD59E-A5EF-423A-912B-2C21FA912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本次范围与验收条件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185ECEC5-8B24-43A2-B369-00DA3771F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已完成操作及实际证据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5C53962-FA99-4130-B537-02AD84040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还没通过的项目与阻塞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455C072D-8434-4754-B29E-DE0465094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下一步和需要谁帮助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D50F6B3-812A-467B-9DEA-EF7828E2B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47875"/>
            <a:ext cx="523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工具与导师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81AA9904-DDA1-42F9-AE0A-599D1DABC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051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工具不可用时保留文件与记录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614D751C-F816-49CB-8FB5-A84FB31EF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909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新工具仍需符合数据与权限规则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DA201735-3F58-4B94-8F83-B4AD86418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767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业务问题找需求或验收负责人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FF7B2433-0555-412E-BDCF-58455516C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7625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代码、数据、发布问题找技术导师</a:t>
            </a:r>
          </a:p>
        </p:txBody>
      </p:sp>
      <p:sp>
        <p:nvSpPr>
          <p:cNvPr id="15" name="takeaway">
            <a:extLst xmlns:a="http://schemas.openxmlformats.org/drawingml/2006/main">
              <a:ext uri="{FF2B5EF4-FFF2-40B4-BE49-F238E27FC236}">
                <a16:creationId xmlns:a16="http://schemas.microsoft.com/office/drawing/2014/main" id="{2CACE28F-CC4A-4AE3-976C-1BDFCEFD7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已实现、已验证、客户已接受分别记录</a:t>
            </a:r>
          </a:p>
        </p:txBody>
      </p:sp>
    </p:spTree>
    <p:extLst>
      <p:ext uri="{BB962C8B-B14F-4D97-AF65-F5344CB8AC3E}">
        <p14:creationId xmlns:p14="http://schemas.microsoft.com/office/powerpoint/2010/main" val="64143291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6485174-4564-4F35-B2F9-A7F943509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完成证明与下一次改进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F0E54C50-9A51-4829-96BB-7B9B7F118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把一个新任务完整讲清楚并实际验证</a:t>
            </a:r>
          </a:p>
        </p:txBody>
      </p:sp>
      <p:sp>
        <p:nvSpPr>
          <p:cNvPr id="3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44574B5D-43EF-4A15-BC95-BCF7D29C6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新手版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384174B9-B478-4E86-AA89-5F4B67248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18 / 18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FBA4899-0774-4CA8-8E53-80946C2DC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523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完成证明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32B8C43-B707-445D-ADCB-0A0C9806B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一张清楚的场景与验收卡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14D96E2-096D-49D9-9E41-06E29D040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一次可解释的小变更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D229865-26CE-4ECE-A520-0A1BD3C71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正常、异常与旧功能检查结果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FD38DD1-0854-47BC-8E67-9E44D5B64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一份可复现的问题或交接记录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4ABC15B0-6EB0-4E29-8875-E7243DC8D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47875"/>
            <a:ext cx="523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课后改进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77F6A4E0-289E-464B-B681-081D55ED2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051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记录最困惑的概念与操作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D1B13025-FC7E-4EE8-8D0B-40AE2D72D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909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由导师核对验收和代码影响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1F9178EC-E31C-4290-8C31-E47B7CDB7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767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把新问题加入 FAQ 与练习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9D22423E-33E5-416C-A8A4-3EAE33168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7625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换一个小任务检查能否迁移</a:t>
            </a:r>
          </a:p>
        </p:txBody>
      </p:sp>
      <p:sp>
        <p:nvSpPr>
          <p:cNvPr id="15" name="takeaway">
            <a:extLst xmlns:a="http://schemas.openxmlformats.org/drawingml/2006/main">
              <a:ext uri="{FF2B5EF4-FFF2-40B4-BE49-F238E27FC236}">
                <a16:creationId xmlns:a16="http://schemas.microsoft.com/office/drawing/2014/main" id="{02E9DE00-2716-48C6-B103-8DA17313A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课程效果等待真实练习与试讲结果验证</a:t>
            </a:r>
          </a:p>
        </p:txBody>
      </p:sp>
    </p:spTree>
    <p:extLst>
      <p:ext uri="{BB962C8B-B14F-4D97-AF65-F5344CB8AC3E}">
        <p14:creationId xmlns:p14="http://schemas.microsoft.com/office/powerpoint/2010/main" val="11080447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2026-10-03T05:42:00.1010000Z</dcterms:created>
  <dcterms:modified xsi:type="dcterms:W3CDTF">2026-10-03T05:42:00.1010000Z</dcterms:modified>
</coreProperties>
</file>