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1488d7899492c" /><Relationship Type="http://schemas.openxmlformats.org/officeDocument/2006/relationships/extended-properties" Target="/docProps/app.xml" Id="R5722ebbc81a74d1b" /><Relationship Type="http://schemas.openxmlformats.org/officeDocument/2006/relationships/officeDocument" Target="/ppt/presentation.xml" Id="R7c49db64dad047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bdc5ed9ae74fc6"/>
  </p:sldMasterIdLst>
  <p:notesMasterIdLst>
    <p:notesMasterId xmlns:r="http://schemas.openxmlformats.org/officeDocument/2006/relationships" r:id="R490de9ed95334e2a"/>
  </p:notesMasterIdLst>
  <p:sldIdLst>
    <p:sldId xmlns:r="http://schemas.openxmlformats.org/officeDocument/2006/relationships" id="256" r:id="R7fc7ec4437f24ed6"/>
    <p:sldId xmlns:r="http://schemas.openxmlformats.org/officeDocument/2006/relationships" id="257" r:id="R5cc086bbc7784b08"/>
    <p:sldId xmlns:r="http://schemas.openxmlformats.org/officeDocument/2006/relationships" id="258" r:id="R2ffddc9d84194fa4"/>
    <p:sldId xmlns:r="http://schemas.openxmlformats.org/officeDocument/2006/relationships" id="259" r:id="Rd6ba8b1b3ba541a7"/>
    <p:sldId xmlns:r="http://schemas.openxmlformats.org/officeDocument/2006/relationships" id="260" r:id="Rd1c69f848da14520"/>
    <p:sldId xmlns:r="http://schemas.openxmlformats.org/officeDocument/2006/relationships" id="261" r:id="R314a2cda94cb4410"/>
    <p:sldId xmlns:r="http://schemas.openxmlformats.org/officeDocument/2006/relationships" id="262" r:id="R12d6f9ab0d80468d"/>
    <p:sldId xmlns:r="http://schemas.openxmlformats.org/officeDocument/2006/relationships" id="263" r:id="Re72f10cde7c94f77"/>
    <p:sldId xmlns:r="http://schemas.openxmlformats.org/officeDocument/2006/relationships" id="264" r:id="R3b3725b4e0f848d7"/>
    <p:sldId xmlns:r="http://schemas.openxmlformats.org/officeDocument/2006/relationships" id="265" r:id="R5278a0047d94429d"/>
    <p:sldId xmlns:r="http://schemas.openxmlformats.org/officeDocument/2006/relationships" id="266" r:id="R053db7844d8d4d9c"/>
    <p:sldId xmlns:r="http://schemas.openxmlformats.org/officeDocument/2006/relationships" id="267" r:id="Rd3bd8ffb89794d44"/>
    <p:sldId xmlns:r="http://schemas.openxmlformats.org/officeDocument/2006/relationships" id="268" r:id="Rcf49002a3097426f"/>
    <p:sldId xmlns:r="http://schemas.openxmlformats.org/officeDocument/2006/relationships" id="269" r:id="R18b58dfa74874ee6"/>
    <p:sldId xmlns:r="http://schemas.openxmlformats.org/officeDocument/2006/relationships" id="270" r:id="Rd4ab0e7331be4db8"/>
    <p:sldId xmlns:r="http://schemas.openxmlformats.org/officeDocument/2006/relationships" id="271" r:id="Ra275b44e99df4bf0"/>
    <p:sldId xmlns:r="http://schemas.openxmlformats.org/officeDocument/2006/relationships" id="272" r:id="R56856c6c06bb4ece"/>
    <p:sldId xmlns:r="http://schemas.openxmlformats.org/officeDocument/2006/relationships" id="273" r:id="Rf33535c6b3da4a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6a5eb68dbc411e" /><Relationship Type="http://schemas.openxmlformats.org/officeDocument/2006/relationships/slideMaster" Target="/ppt/slideMasters/slideMaster1.xml" Id="R9ebdc5ed9ae74fc6" /><Relationship Type="http://schemas.openxmlformats.org/officeDocument/2006/relationships/notesMaster" Target="/ppt/notesMasters/notesMaster1.xml" Id="R490de9ed95334e2a" /><Relationship Type="http://schemas.openxmlformats.org/officeDocument/2006/relationships/presProps" Target="/ppt/presProps.xml" Id="R83aee6eff5174f27" /><Relationship Type="http://schemas.openxmlformats.org/officeDocument/2006/relationships/tableStyles" Target="/ppt/tableStyles.xml" Id="Re76766dec7384172" /><Relationship Type="http://schemas.openxmlformats.org/officeDocument/2006/relationships/slide" Target="/ppt/slides/slide1.xml" Id="R7fc7ec4437f24ed6" /><Relationship Type="http://schemas.openxmlformats.org/officeDocument/2006/relationships/slide" Target="/ppt/slides/slide2.xml" Id="R5cc086bbc7784b08" /><Relationship Type="http://schemas.openxmlformats.org/officeDocument/2006/relationships/slide" Target="/ppt/slides/slide3.xml" Id="R2ffddc9d84194fa4" /><Relationship Type="http://schemas.openxmlformats.org/officeDocument/2006/relationships/slide" Target="/ppt/slides/slide4.xml" Id="Rd6ba8b1b3ba541a7" /><Relationship Type="http://schemas.openxmlformats.org/officeDocument/2006/relationships/slide" Target="/ppt/slides/slide5.xml" Id="Rd1c69f848da14520" /><Relationship Type="http://schemas.openxmlformats.org/officeDocument/2006/relationships/slide" Target="/ppt/slides/slide6.xml" Id="R314a2cda94cb4410" /><Relationship Type="http://schemas.openxmlformats.org/officeDocument/2006/relationships/slide" Target="/ppt/slides/slide7.xml" Id="R12d6f9ab0d80468d" /><Relationship Type="http://schemas.openxmlformats.org/officeDocument/2006/relationships/slide" Target="/ppt/slides/slide8.xml" Id="Re72f10cde7c94f77" /><Relationship Type="http://schemas.openxmlformats.org/officeDocument/2006/relationships/slide" Target="/ppt/slides/slide9.xml" Id="R3b3725b4e0f848d7" /><Relationship Type="http://schemas.openxmlformats.org/officeDocument/2006/relationships/slide" Target="/ppt/slides/slide10.xml" Id="R5278a0047d94429d" /><Relationship Type="http://schemas.openxmlformats.org/officeDocument/2006/relationships/slide" Target="/ppt/slides/slide11.xml" Id="R053db7844d8d4d9c" /><Relationship Type="http://schemas.openxmlformats.org/officeDocument/2006/relationships/slide" Target="/ppt/slides/slide12.xml" Id="Rd3bd8ffb89794d44" /><Relationship Type="http://schemas.openxmlformats.org/officeDocument/2006/relationships/slide" Target="/ppt/slides/slide13.xml" Id="Rcf49002a3097426f" /><Relationship Type="http://schemas.openxmlformats.org/officeDocument/2006/relationships/slide" Target="/ppt/slides/slide14.xml" Id="R18b58dfa74874ee6" /><Relationship Type="http://schemas.openxmlformats.org/officeDocument/2006/relationships/slide" Target="/ppt/slides/slide15.xml" Id="Rd4ab0e7331be4db8" /><Relationship Type="http://schemas.openxmlformats.org/officeDocument/2006/relationships/slide" Target="/ppt/slides/slide16.xml" Id="Ra275b44e99df4bf0" /><Relationship Type="http://schemas.openxmlformats.org/officeDocument/2006/relationships/slide" Target="/ppt/slides/slide17.xml" Id="R56856c6c06bb4ece" /><Relationship Type="http://schemas.openxmlformats.org/officeDocument/2006/relationships/slide" Target="/ppt/slides/slide18.xml" Id="Rf33535c6b3da4a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6155f868a447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716f231c5c4af5" /><Relationship Type="http://schemas.openxmlformats.org/officeDocument/2006/relationships/notesMaster" Target="/ppt/notesMasters/notesMaster1.xml" Id="R8eb9518d9caa4e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7c5b1dada840a5" /><Relationship Type="http://schemas.openxmlformats.org/officeDocument/2006/relationships/notesMaster" Target="/ppt/notesMasters/notesMaster1.xml" Id="R933b397994c843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b91e0fef2844ec" /><Relationship Type="http://schemas.openxmlformats.org/officeDocument/2006/relationships/notesMaster" Target="/ppt/notesMasters/notesMaster1.xml" Id="Ra92a17fdc0364c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d550ba95894f3a" /><Relationship Type="http://schemas.openxmlformats.org/officeDocument/2006/relationships/notesMaster" Target="/ppt/notesMasters/notesMaster1.xml" Id="R305b2af3e505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02bde6f3404cee" /><Relationship Type="http://schemas.openxmlformats.org/officeDocument/2006/relationships/notesMaster" Target="/ppt/notesMasters/notesMaster1.xml" Id="R7ecd6d745a8e48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bc75fa58cf4173" /><Relationship Type="http://schemas.openxmlformats.org/officeDocument/2006/relationships/notesMaster" Target="/ppt/notesMasters/notesMaster1.xml" Id="R318b4248b06b42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f54941855a4eaa" /><Relationship Type="http://schemas.openxmlformats.org/officeDocument/2006/relationships/notesMaster" Target="/ppt/notesMasters/notesMaster1.xml" Id="R8e0ee305717d4f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65c7d3a97a48ab" /><Relationship Type="http://schemas.openxmlformats.org/officeDocument/2006/relationships/notesMaster" Target="/ppt/notesMasters/notesMaster1.xml" Id="R7a522932087347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019ba5e0f2419a" /><Relationship Type="http://schemas.openxmlformats.org/officeDocument/2006/relationships/notesMaster" Target="/ppt/notesMasters/notesMaster1.xml" Id="R9a1b809b22a940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1a8624d4c14c63" /><Relationship Type="http://schemas.openxmlformats.org/officeDocument/2006/relationships/notesMaster" Target="/ppt/notesMasters/notesMaster1.xml" Id="Rd6f95e3f80ab4b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5bfdbb182a4360" /><Relationship Type="http://schemas.openxmlformats.org/officeDocument/2006/relationships/notesMaster" Target="/ppt/notesMasters/notesMaster1.xml" Id="R5e341c6209964d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69c61a443548e2" /><Relationship Type="http://schemas.openxmlformats.org/officeDocument/2006/relationships/notesMaster" Target="/ppt/notesMasters/notesMaster1.xml" Id="R3a10372e06024a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7811af30cb49a9" /><Relationship Type="http://schemas.openxmlformats.org/officeDocument/2006/relationships/notesMaster" Target="/ppt/notesMasters/notesMaster1.xml" Id="R81e66ab661c641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be44e3002a4f21" /><Relationship Type="http://schemas.openxmlformats.org/officeDocument/2006/relationships/notesMaster" Target="/ppt/notesMasters/notesMaster1.xml" Id="R55585dbdec204e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93025d16524f63" /><Relationship Type="http://schemas.openxmlformats.org/officeDocument/2006/relationships/notesMaster" Target="/ppt/notesMasters/notesMaster1.xml" Id="Reb451b2a543e40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fd646b30ae4de0" /><Relationship Type="http://schemas.openxmlformats.org/officeDocument/2006/relationships/notesMaster" Target="/ppt/notesMasters/notesMaster1.xml" Id="R917ec8d93ec347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ce255a06cd4aaa" /><Relationship Type="http://schemas.openxmlformats.org/officeDocument/2006/relationships/notesMaster" Target="/ppt/notesMasters/notesMaster1.xml" Id="R2a490128179a48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f603f5f4824a87" /><Relationship Type="http://schemas.openxmlformats.org/officeDocument/2006/relationships/notesMaster" Target="/ppt/notesMasters/notesMaster1.xml" Id="Rf5c2b95f97f54c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页：AI Coding 委派、验证与恢复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建议授课与演示 75 分钟，练习 45 分钟，实际用时待试讲。目标是把工程判断转成可执行约束、独立验收与可审查差异，并能处理一次失败。本课程使用一个小型本地会议室预约项目，无外部框架依赖，标准 Python 分发仍需包含 sqlite3 模块。强调 AI 回复、自动测试和人工审查各自提供的证据与局限。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页：主管的小失败：周五还能交付吗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周一约定周五试用查看、预约、取消，周三页面可操作，周四客户提出新增主管审批。主管据页面生成速度判断可以同日完成，到了周五才发现审批人、驳回后处理、待审批数据可见范围没有定清。可见后果是试用暂缓，并重新召开范围确认会。这里的困难是缺少支持承诺的证据。请问听众：回答周五一起给之前，你最需要补看什么？接收一两个回答后，引出交付状态卡。必须区分原功能缺陷与新增审批，不能用新增范围证明原范围不合格，也不能凭这个故事推断真实延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页：工程师的小失败：测试绿了，规则错了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分钟。案例为虚构、预设的错误修改。工程师请 AI 修复相邻预约误判，AI 回复全部测试通过。工程师补试一个明显重叠的预约，发现也能成功。差异显示，原来应拒绝的测试预期被改成允许。工程师停下合并，没有把故障交给真实用户。提问：测试全绿时，你怎样判断测试仍在检查正确的规则？引出两个独立验收例子、代码差异和测试预期审查。不要得出 AI 每次都会改坏测试的结论。测试可以随已确认需求改变，但预期变化需要业务依据。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页：新手的小失败：刷新后，预约不见了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新手输入做一个好用的会议室预约系统，页面出现、按钮能点、列表能显示预约。展示时同事刷新页面，记录消失。新手不知道该重新做，还是继续说帮我修好。本故事预设记录只存在页面内存，真实故障不能仅凭同一现象断定同一原因。让听众补三条可检查要求：刷新保留、重叠拒绝、取消释放。再说明后续会逐步认识输入、规则、数据、结果，并学习提供操作步骤、预期、实际与环境信息来求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页：一次委派的任务合同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分钟。让工程师把口头修一下改写成任务合同。任务应引用需求与验收编号、相关文件、环境和修改边界，并要求 AI 先解释方案和验证计划。禁止悄改不是永远不能改测试，而是预期变化必须有需求依据并纳入审查。把复杂工作拆成可审查的小步，保留一次变更与一组证据的联系。AGENTS.md 存放长期约定，具体任务状态和讨论放在任务记录。这个委派方法是本项目建议流程，不宣称普适标准。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页：验收例子定义正确行为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先从业务独立写例子，再查看实现。半开区间意味着结束时刻不被前一预约占用，因此紧邻可预约。日期也是冲突判断的一部分，不能把不同日期的同一时刻判为冲突。除正常例子，还覆盖边界、错误输入、刷新重启和并发。真实业务改变时，应先更新经确认的验收，再调整测试。自动测试必须检查真实效果和拒绝结果，不能仅验证函数调用或复制实现中的同一错误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页：4A 与实现边界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分钟。用可编辑四层图说明小系统的四类视图。BA 是查看、预约、取消流程及规则。AA 将页面、HTTP 接口、业务校验和数据库访问划开职责。DA 是预约记录及标识、日期、区间、预约人和生命周期。TA 是本机浏览器、Python 标准库服务和 SQLite 文件。四类视图是不同关注点，不要求建成四套独立系统。请学员指出审批变更影响哪里：业务状态、身份权限、数据迁移、接口、校验和验证都可能变化。 本例数据模型由一条预约对应多个半小时占用格，同一日期与格起点只能占用一次。取消预约同时释放相应占用格。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architecture: https://help.opengroup.org/hc/en-us/articles/32115987894930-How-the-ArchiMate-Language-and-the-TOGAF-Standard-Complement-Each-Other</a:t>
            </a:r>
          </a:p>
          <a:p xmlns:a="http://schemas.openxmlformats.org/drawingml/2006/main">
            <a:r>
              <a:t>http: https://docs.python.org/3/library/http.server.html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页：项目上下文与实际约束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分钟。强调文档与机制的关系。AGENTS.md 能让代理了解约定，但不能替代沙箱、权限和独立检查。使用仓库现有命令，不凭记忆猜测环境，按实际授权访问客户数据与工具。工程师需要阅读上下文并确认工作范围，把暂态任务记录留在相应文档，不把 AGENTS.md 堆成无限增长的流水账。接管时应从需求、计划、差异和证据恢复上下文。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  <a:p xmlns:a="http://schemas.openxmlformats.org/drawingml/2006/main">
            <a:r>
              <a:t>sandbox: https://learn.chatgpt.com/docs/sandboxing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页：差异审查的四个入口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让学员查看一次真实生成差异，先圈出任务外改动，再核对业务预期。测试源码同样需要审查，尤其是删除断言、放宽预期或同时修改实现与预期的情况。并非所有测试修改都可疑，关键是需求与证据能否解释。查看新增依赖和数据操作的必要性，定位风险高的地方。AI 的自我总结可用于导航，不能代替差异和实际输出。必要时退回一部分修改，仍继续可独立验证的部分。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页：故障一：相邻修复引入重叠回归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6 分钟，含演示。先问听众左右两组应该如何处理，再运行教学故障实验。命令：python3 demo/labs/failure_lab.py。此命令运行明确标记的故障与修复对照，不能声称它代表某次真实模型输出。请学员观察错误逻辑如何让错误预期也通过，再用独立业务例子暴露问题。修复完成后必须同时检查相邻允许与重叠拒绝。若本轮未实际运行，就按讲师实验记录如实标注，不复述预期输出为真实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页：故障二：检查空闲后仍可能双订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6 分钟。本表展示缺少保护的教学故障时序，不是当前正式实现行为。先检查后写入会产生竞态，即使两个请求分别检查过也可能双订。本例将每个预约拆成多个半小时占用格，slots 的日期与格起点组成主键，因此同一天同一个格只能占用一次。BEGIN IMMEDIATE 事务内写入预约记录及全部占用格，一格冲突则整体回滚，取消通过外键级联释放格。并发验收检查成功和冲突响应，以及最终数据状态。SQLite 同一时刻只允许一个写事务，也需要处理等待或超时。不要把一次单人演示当作并发正确的证明。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transaction: https://sqlite.org/lang_transaction.html</a:t>
            </a:r>
          </a:p>
          <a:p xmlns:a="http://schemas.openxmlformats.org/drawingml/2006/main">
            <a:r>
              <a:t>constraints: https://sqlite.org/lang_createtable.html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页：故障三：页面状态与持久化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开篇故障预设数据只保存在页面内存，真实项目同样症状可能来自未提交事务、使用临时数据库、路径错误或查询条件错误。请学员先写最短复现步骤，记录预期、实际和版本，再逐层定位页面、接口与存储。使用 R05/A05 检查刷新与服务重启后的同一日期记录，并用 R04/A04 检查取消释放。说明 SQLite 文件式存储不需要独立数据库服务进程，但 Python 分发需要包含 sqlite3 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页：验证命令与证据记录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分钟。讲师在仓库根目录运行命令，并让学员观察真实输出，不预填通过数量。unittest discover 根据目录发现测试，-v 显示具体测试名。测试通过说明该版本在该环境满足已执行检查，并不证明所有需求、生产可靠性或客户接受。把 A01 至 A08 与自动测试、人工操作及并发结果对应。保留失败输出后修复，比较新旧证据。演示前如环境不满足，应处理真实报错并记录，不伪造成功。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unittest: https://docs.python.org/3/library/unittest.html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页：本地演示与恢复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启动后先完成查看、预约、冲突拒绝、取消和刷新验收。故障恢复先明确影响范围，停止相关操作，保存诊断证据，再按演示手册处理教学数据和程序版本。不能仅回退程序却忽略数据是否兼容，也不要在未确认路径时删除数据库。当前为本地教学，使用合成预约人和主题。真实发布需另行确认备份、恢复、运维与验收责任。讲师应依照项目恢复说明执行实际步骤，并保留恢复后关键验收结果。 课堂恢复演练命令为 python3 demo/backup.py exercise，仅在临时目录操作。手动备份示例：python3 demo/backup.py backup --source demo/data/bookings.sqlite3 --output demo/backups/before-change.sqlite3。恢复示例：python3 demo/backup.py restore --source demo/backups/before-change.sqlite3 --output demo/data/restored.sqlite3。恢复到新文件，已有目标拒绝覆盖，再按恢复文档核对数据并切换。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页：审批变更与阶段报告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审批在本例中是新增需求演练，不是已实现功能。工程师需要把技术影响解释成业务可理解的交付影响。先澄清规则，再给工作量区间和依赖，新增人日与延期天数分别说明。比较原范围先交、完整范围延期或分期等选择。对外承诺由有权限的人确认，AI 可起草评估和沟通文本。报告同时显示当前预测与已批准日期，保持未受影响工作的推进。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页：部署与 DfX 的最低说明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分钟。真实部署需要对齐位置、基础设施约束、数据库中间件准入、环境提供方及就绪日期。DfX 选择适用属性，写明场景、阈值、负责人、措施、验证和证据。不要把一次本机演示速度当作性能承诺，也不要因为监听本机就声称拥有完整安全性。本例使用 Python 标准库 HTTP，官方文档不推荐其作为生产服务。说明边界是为了确定下一阶段的真实工作。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页：工具接续与导师培养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让一位工程师把当前任务交给另一位同事，观察缺少哪些上下文。保存聊天记录可以辅助，但可运行代码、明确需求、测试与恢复文档更直接地支持接续。导师应解释为何拒绝一项修改，让新手学会描述证据，避免代做全部任务。工具、版本或模型变化后，通过代表性验收任务重新比较质量与总成本，而不是只看生成速度。没有真实样本时不宣称效率提升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页：工程师考核与持续改进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分钟布置练习，另留 45 分钟完成。导师从配套练习选择未讲过的边界变更或故障，学员先形成验收再委派 AI。评分看复现、业务依据、差异控制、独立验证、限制和恢复，不看代码数量。测试通过但无法解释预期来源时需要补证据。改进记录区分材料修订已完成与真实效果待验证。把可普遍复用的经验写入长期规则，具体故障留在知识库，并在下一次新任务中检验改进是否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a445af1ea46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47bca449a64545" /><Relationship Type="http://schemas.openxmlformats.org/officeDocument/2006/relationships/slideLayout" Target="/ppt/slideLayouts/slideLayout1.xml" Id="R366721079bd24d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6721079bd24d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7b918543042a5" /><Relationship Type="http://schemas.openxmlformats.org/officeDocument/2006/relationships/notesSlide" Target="/ppt/notesSlides/notesSlide1.xml" Id="Rea697700f9d4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6b64d1da741cc" /><Relationship Type="http://schemas.openxmlformats.org/officeDocument/2006/relationships/notesSlide" Target="/ppt/notesSlides/notesSlide2.xml" Id="Reabb54e32cdd4b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ca6ee19ea4283" /><Relationship Type="http://schemas.openxmlformats.org/officeDocument/2006/relationships/notesSlide" Target="/ppt/notesSlides/notesSlide3.xml" Id="R40225685b8c344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14ce9a45141d4" /><Relationship Type="http://schemas.openxmlformats.org/officeDocument/2006/relationships/notesSlide" Target="/ppt/notesSlides/notesSlide4.xml" Id="R43d3a5b5485b41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115d92d904100" /><Relationship Type="http://schemas.openxmlformats.org/officeDocument/2006/relationships/notesSlide" Target="/ppt/notesSlides/notesSlide5.xml" Id="R53857ec7723145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cd76f31534948" /><Relationship Type="http://schemas.openxmlformats.org/officeDocument/2006/relationships/notesSlide" Target="/ppt/notesSlides/notesSlide6.xml" Id="R62bd6797128048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59b8dcd234365" /><Relationship Type="http://schemas.openxmlformats.org/officeDocument/2006/relationships/notesSlide" Target="/ppt/notesSlides/notesSlide7.xml" Id="R7f0a7fcf862842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45e9e256d4748" /><Relationship Type="http://schemas.openxmlformats.org/officeDocument/2006/relationships/notesSlide" Target="/ppt/notesSlides/notesSlide8.xml" Id="R866f240fa8034e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7302fca6e4127" /><Relationship Type="http://schemas.openxmlformats.org/officeDocument/2006/relationships/notesSlide" Target="/ppt/notesSlides/notesSlide9.xml" Id="R8ef16de3a3fd4e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34660196b4035" /><Relationship Type="http://schemas.openxmlformats.org/officeDocument/2006/relationships/notesSlide" Target="/ppt/notesSlides/notesSlide10.xml" Id="Rea0f394ff26f4d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0b8e0698b4ac3" /><Relationship Type="http://schemas.openxmlformats.org/officeDocument/2006/relationships/notesSlide" Target="/ppt/notesSlides/notesSlide11.xml" Id="Rf629da6de14042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4e04efbb84b1e" /><Relationship Type="http://schemas.openxmlformats.org/officeDocument/2006/relationships/notesSlide" Target="/ppt/notesSlides/notesSlide12.xml" Id="R219717904b894b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904cd60cf427f" /><Relationship Type="http://schemas.openxmlformats.org/officeDocument/2006/relationships/notesSlide" Target="/ppt/notesSlides/notesSlide13.xml" Id="R8e6561f456c04b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6785dc66f495c" /><Relationship Type="http://schemas.openxmlformats.org/officeDocument/2006/relationships/notesSlide" Target="/ppt/notesSlides/notesSlide14.xml" Id="R455b57a21c5440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90e0a7b0b4ac7" /><Relationship Type="http://schemas.openxmlformats.org/officeDocument/2006/relationships/notesSlide" Target="/ppt/notesSlides/notesSlide15.xml" Id="R1df1cbf8f5ec47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bdd5c28c94a27" /><Relationship Type="http://schemas.openxmlformats.org/officeDocument/2006/relationships/notesSlide" Target="/ppt/notesSlides/notesSlide16.xml" Id="Rbdc649f625b941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2f2666c264df8" /><Relationship Type="http://schemas.openxmlformats.org/officeDocument/2006/relationships/notesSlide" Target="/ppt/notesSlides/notesSlide17.xml" Id="Rd06d79e175d24e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787978c424bcc" /><Relationship Type="http://schemas.openxmlformats.org/officeDocument/2006/relationships/notesSlide" Target="/ppt/notesSlides/notesSlide18.xml" Id="R4840a55ca66447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F32553-8F49-460C-AEC5-9331CECF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工程师课程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C7A0A4B-CA80-45F3-8541-37AA168A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委派、验证与恢复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5869141-7505-47E8-9740-A69C4D40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rPr>
              <a:t>用可重复证据建立可委派的工作边界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33F504-734D-4541-B093-5131B51B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软件工程 Harness 能力建设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5EBDF0C-D19F-4A2E-93B7-54583004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7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2052750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BD78FD-CE0C-45BD-9CDE-F1114176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主管的小失败：周五还能交付吗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37BBD5A-F8B4-4159-94D3-AC75DA83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7A8C73-47DE-4792-80D6-AF2F4A00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2E6478-FE29-4405-A6F6-1A89078A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承诺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4A9BACE-7A1F-41D4-A94F-A7AF88E7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“审批也一起加上，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还是周五给客户。”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83EF80-E5CE-495A-8313-1EF29DAF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BC23660-C061-4E89-AC02-247D297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基础预约按原计划试用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8BE99C9-73BF-4083-9F3D-E81058CB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54B3464-BEF4-4C2D-B09E-0E3153E4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看到页面后，承诺同日增加审批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5CB900-0918-4F52-AC7D-66D698DD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CC94FF2-7D55-4AA0-A0E7-A5EB9DF4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审批规则未定，试用暂缓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CA941A0-CE6B-4E4A-93E4-7A629BD6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第一步：核对原范围、验收状态与新增影响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BBCE85C-5879-415F-BA56-0DC5E9BE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1523482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3E5F4B-47CF-4CA8-BEB6-A107434B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工程师的小失败：测试绿了，规则错了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7B5E757-3ED8-4A09-8461-FF5FC2B0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622E3EB-47F8-4EFC-AF91-220A81B9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9BFFCB9-3296-476B-BD95-7C9640A9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0DB74D-F384-4CA1-B60C-581A4664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“相邻预约修好了。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但重叠预约也成功了。”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4E15F7-DD83-47A2-884F-10AD6959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97BB12E-DF4B-4EB5-97ED-B29E1551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 接着 10:00—11:00，可以预约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87B074-9F56-4735-91E3-AD53DCD8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2A0704A-1337-4E68-828F-BA351492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AI 同时修改逻辑与测试预期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00DF57D-DA41-4CAD-80C7-89CD088F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10725F0-19E5-433A-9E99-31C2599A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 也能提交，暂缓合并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04A72F5-AF11-4A1D-A92B-2661FEA0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第一步：依据业务例子，独立核对测试预期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8EA6BF3-19D9-4152-A46C-F24C0D68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169652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3AA9C2-C19E-4895-B800-81CA7FCA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新手的小失败：刷新后，预约不见了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1E224A9-8ACF-4FCC-802A-00F7DE27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FD3A3DB-B042-4C91-B8A7-91AB8E2B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BAB180F-8D64-4700-AC25-674D5F2E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起步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C81FF7-C9C3-4657-9F4A-DAD91D68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“页面已经做好了，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先别刷新。”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362052C-44FC-412A-974C-16A59020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BBA5477-EA97-4B56-8EB8-410815E2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做一个好用的预约工具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A18782-C62C-4809-B440-8FDF31EF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236D7F7-772D-400B-BCD8-AC3938CB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只描述想要的页面与按钮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5689D6-62A9-4410-B983-F71D7731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1B0A51B-8473-4AA5-8A8D-050B1C81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刷新丢记录，不知怎样描述问题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CE6B06-8230-47A8-93BE-307720B7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第一步：写下可操作、可复查的验收例子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4CF3F9-B78D-4744-98E3-1CAD1DE8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1305931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7C56E-7DA4-4A7A-876E-D0BF00DA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一次委派的任务合同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4830C6E6-D74E-4BAC-AC3E-6C2028BF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小任务也需要输入、边界与完成标准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2659F5A-9D89-45CC-B78A-D1759D33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90E5228-0DF0-4C1D-AD16-37EBE8D6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B56FC63-9D45-497C-B460-0C0C164C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业务目标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2AD083-B405-4B5A-8CDE-780175DE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R03：相邻允许，重叠拒绝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5FD4CDF-EE1E-4FCF-9B9D-A9FF32BB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允许修改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98C80A-BABB-45A4-8CE6-B732C2C0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限定相关校验、必要测试与说明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F99DEB-CB15-4366-B791-FE07A8DD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禁止悄改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2306AF-9DF1-44A6-8E41-7ABB5855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验收预期、持久化行为和范围边界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8561604-6081-49F6-8D55-8E517A79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完成证据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745A6F2-039F-4F4E-8711-673890C1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变更说明、差异、检查结果及限制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E7091270-DE4B-4202-BDD8-39C916E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先审计划，再看差异，最后依据验收独立判断</a:t>
            </a:r>
          </a:p>
        </p:txBody>
      </p:sp>
    </p:spTree>
    <p:extLst>
      <p:ext uri="{BB962C8B-B14F-4D97-AF65-F5344CB8AC3E}">
        <p14:creationId xmlns:p14="http://schemas.microsoft.com/office/powerpoint/2010/main" val="6930628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24451D-90EC-4B0C-ADB3-0387F438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验收例子定义正确行为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DBA73067-39BC-4491-92A5-7537A20A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会议室每天 09:00—18:00，每半小时一个边界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D00E871-F153-46C2-B3E1-DF3BE079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E19517F-5F7F-49AB-9959-478A4F56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905625"/>
                <a:gridCol w="206692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输入或操作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R03 / A03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10:00—11:00，再约 11:00—12:00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R03 / A03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10:00—11:00，再约 10:30—11:30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R05 / A05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提交后刷新并重启服务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记录仍存在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R06 / A06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倒序、越界、非半小时时间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拒绝并说明原因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R08 / A08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同时提交同一日期同一时段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仅一次成功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187CBD19-2251-4E6F-89FE-47E81E4C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一次预约不跨日期，时间区间采用 [开始, 结束)</a:t>
            </a:r>
          </a:p>
        </p:txBody>
      </p:sp>
    </p:spTree>
    <p:extLst>
      <p:ext uri="{BB962C8B-B14F-4D97-AF65-F5344CB8AC3E}">
        <p14:creationId xmlns:p14="http://schemas.microsoft.com/office/powerpoint/2010/main" val="291514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857E89-0E3D-4B53-ABDC-A5323131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4A 与实现边界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FD42855-1AAD-4446-8524-B299BD46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983A36-1DD7-4435-BCF6-9B7CDC9A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BB9FD98-2A7D-45D5-B4D1-22DEE810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同一需求映射到流程、职责、数据和运行环境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01476F4-4249-46B6-AD7A-1DDCE072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BA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2E963D-15CC-4FE0-8650-01926137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业务架构</a:t>
            </a:r>
          </a:p>
        </p:txBody>
      </p:sp>
      <p:sp>
        <p:nvSpPr>
          <p:cNvPr id="7" name="4A-BA-0">
            <a:extLst xmlns:a="http://schemas.openxmlformats.org/drawingml/2006/main">
              <a:ext uri="{FF2B5EF4-FFF2-40B4-BE49-F238E27FC236}">
                <a16:creationId xmlns:a16="http://schemas.microsoft.com/office/drawing/2014/main" id="{D7D24065-F8B0-44B9-BB97-7EE956F7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查看空闲</a:t>
            </a:r>
          </a:p>
        </p:txBody>
      </p:sp>
      <p:sp>
        <p:nvSpPr>
          <p:cNvPr id="8" name="4A-BA-1">
            <a:extLst xmlns:a="http://schemas.openxmlformats.org/drawingml/2006/main">
              <a:ext uri="{FF2B5EF4-FFF2-40B4-BE49-F238E27FC236}">
                <a16:creationId xmlns:a16="http://schemas.microsoft.com/office/drawing/2014/main" id="{DF2E7158-33E3-4CC0-931C-E8DFCEF4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提交预约 / 取消</a:t>
            </a:r>
          </a:p>
        </p:txBody>
      </p:sp>
      <p:sp>
        <p:nvSpPr>
          <p:cNvPr id="9" name="4A-BA-2">
            <a:extLst xmlns:a="http://schemas.openxmlformats.org/drawingml/2006/main">
              <a:ext uri="{FF2B5EF4-FFF2-40B4-BE49-F238E27FC236}">
                <a16:creationId xmlns:a16="http://schemas.microsoft.com/office/drawing/2014/main" id="{AA67FD4A-6962-4059-95B7-04904332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结果提示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95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43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255449-ED19-4534-9BB8-F6631077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AA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63B23F-0EAA-46ED-B642-4A9FC177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应用架构</a:t>
            </a:r>
          </a:p>
        </p:txBody>
      </p:sp>
      <p:sp>
        <p:nvSpPr>
          <p:cNvPr id="14" name="4A-AA-0">
            <a:extLst xmlns:a="http://schemas.openxmlformats.org/drawingml/2006/main">
              <a:ext uri="{FF2B5EF4-FFF2-40B4-BE49-F238E27FC236}">
                <a16:creationId xmlns:a16="http://schemas.microsoft.com/office/drawing/2014/main" id="{B001B6AD-D136-43D3-921E-4FAA6D92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原生页面</a:t>
            </a:r>
          </a:p>
        </p:txBody>
      </p:sp>
      <p:sp>
        <p:nvSpPr>
          <p:cNvPr id="15" name="4A-AA-1">
            <a:extLst xmlns:a="http://schemas.openxmlformats.org/drawingml/2006/main">
              <a:ext uri="{FF2B5EF4-FFF2-40B4-BE49-F238E27FC236}">
                <a16:creationId xmlns:a16="http://schemas.microsoft.com/office/drawing/2014/main" id="{C03897D8-650E-46F0-8F90-FB22BFE9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 接口与校验</a:t>
            </a:r>
          </a:p>
        </p:txBody>
      </p:sp>
      <p:sp>
        <p:nvSpPr>
          <p:cNvPr id="16" name="4A-AA-2">
            <a:extLst xmlns:a="http://schemas.openxmlformats.org/drawingml/2006/main">
              <a:ext uri="{FF2B5EF4-FFF2-40B4-BE49-F238E27FC236}">
                <a16:creationId xmlns:a16="http://schemas.microsoft.com/office/drawing/2014/main" id="{65C7FE98-48B4-4CBD-B07D-E555822A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预约数据存取</a:t>
            </a:r>
          </a:p>
        </p:txBody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43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6ABAFBE-961C-4B25-A5B7-5ECDC9F1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DA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6D374DF-6CB9-474F-AC25-FC81B9A9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数据架构</a:t>
            </a:r>
          </a:p>
        </p:txBody>
      </p:sp>
      <p:sp>
        <p:nvSpPr>
          <p:cNvPr id="21" name="4A-DA-0">
            <a:extLst xmlns:a="http://schemas.openxmlformats.org/drawingml/2006/main">
              <a:ext uri="{FF2B5EF4-FFF2-40B4-BE49-F238E27FC236}">
                <a16:creationId xmlns:a16="http://schemas.microsoft.com/office/drawing/2014/main" id="{FCE70B54-DC4F-4025-91F5-69DFABB8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预约记录</a:t>
            </a:r>
          </a:p>
        </p:txBody>
      </p:sp>
      <p:sp>
        <p:nvSpPr>
          <p:cNvPr id="22" name="4A-DA-1">
            <a:extLst xmlns:a="http://schemas.openxmlformats.org/drawingml/2006/main">
              <a:ext uri="{FF2B5EF4-FFF2-40B4-BE49-F238E27FC236}">
                <a16:creationId xmlns:a16="http://schemas.microsoft.com/office/drawing/2014/main" id="{C4A9EF25-4E5F-43DD-8F1D-7734B82C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 对多占用格</a:t>
            </a:r>
          </a:p>
        </p:txBody>
      </p:sp>
      <p:sp>
        <p:nvSpPr>
          <p:cNvPr id="23" name="4A-DA-2">
            <a:extLst xmlns:a="http://schemas.openxmlformats.org/drawingml/2006/main">
              <a:ext uri="{FF2B5EF4-FFF2-40B4-BE49-F238E27FC236}">
                <a16:creationId xmlns:a16="http://schemas.microsoft.com/office/drawing/2014/main" id="{70FA2828-6A4A-4CC3-AF68-F3CD97F2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同日每格唯一</a:t>
            </a:r>
          </a:p>
        </p:txBody>
      </p: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95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none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143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none" w="sm" len="sm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770FE33-9AD5-4FE1-AE44-D6991EC5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51C6749-6EAC-4232-AA91-EEE720D1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技术架构</a:t>
            </a:r>
          </a:p>
        </p:txBody>
      </p:sp>
      <p:sp>
        <p:nvSpPr>
          <p:cNvPr id="28" name="4A-TA-0">
            <a:extLst xmlns:a="http://schemas.openxmlformats.org/drawingml/2006/main">
              <a:ext uri="{FF2B5EF4-FFF2-40B4-BE49-F238E27FC236}">
                <a16:creationId xmlns:a16="http://schemas.microsoft.com/office/drawing/2014/main" id="{55758517-D54B-4786-AEC7-3157EBBE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本机浏览器</a:t>
            </a:r>
          </a:p>
        </p:txBody>
      </p:sp>
      <p:sp>
        <p:nvSpPr>
          <p:cNvPr id="29" name="4A-TA-1">
            <a:extLst xmlns:a="http://schemas.openxmlformats.org/drawingml/2006/main">
              <a:ext uri="{FF2B5EF4-FFF2-40B4-BE49-F238E27FC236}">
                <a16:creationId xmlns:a16="http://schemas.microsoft.com/office/drawing/2014/main" id="{1BEBF0B9-2E69-47A6-8481-213C080D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 3 服务</a:t>
            </a:r>
          </a:p>
        </p:txBody>
      </p:sp>
      <p:sp>
        <p:nvSpPr>
          <p:cNvPr id="30" name="4A-TA-2">
            <a:extLst xmlns:a="http://schemas.openxmlformats.org/drawingml/2006/main">
              <a:ext uri="{FF2B5EF4-FFF2-40B4-BE49-F238E27FC236}">
                <a16:creationId xmlns:a16="http://schemas.microsoft.com/office/drawing/2014/main" id="{674C860B-8E60-4EFD-8BED-E37E2ADD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SQLite 文件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095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143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1BDD89BC-B784-4DB7-97D6-6FA56B1B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R03 贯穿业务规则、校验职责、区间数据与事务保护</a:t>
            </a:r>
          </a:p>
        </p:txBody>
      </p:sp>
    </p:spTree>
    <p:extLst>
      <p:ext uri="{BB962C8B-B14F-4D97-AF65-F5344CB8AC3E}">
        <p14:creationId xmlns:p14="http://schemas.microsoft.com/office/powerpoint/2010/main" val="1316381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620D19-E680-42A6-B8AF-9423DCAE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项目上下文与实际约束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47D3501E-D734-4E75-B063-AB784032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指导文件帮助 AI 找对信息，工程机制负责检查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3B0CE016-6807-442C-ADDD-771F90A6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16A240C-9C1F-4876-AFE5-02AD6ECE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EE52F1-29E3-47F4-9554-D72A8BD3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AGENTS.md 提供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154FECD-F2F5-4E25-BF40-7A26A5A1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项目入口与长期工作约定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CD758C-ABC7-4236-86A4-B849E024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运行、测试与恢复方法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342555-CB31-406A-BB47-949EEC51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允许修改范围和完成标准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9C1EF3-DF5D-43D0-8B67-57C6FE68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证据记录与持续改进方式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A9D558-A852-473D-AB50-6F7E470B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实际环境落实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28AEEE1-F0C1-4FF7-95F2-1CDEEC0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目录、网络、密钥和工具权限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5A0BA00-E31E-4D8F-86E3-E9D02A99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测试运行与版本差异审查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D224324-9498-4F58-86EB-BA97A711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数据库约束与事务边界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2DEB9D-A839-48A8-A213-24916FD0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备份、回退与接管责任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896AFE0E-9487-4347-A72C-3E4DE77A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客户资料、工具能力和授权边界都要有具体来源</a:t>
            </a:r>
          </a:p>
        </p:txBody>
      </p:sp>
    </p:spTree>
    <p:extLst>
      <p:ext uri="{BB962C8B-B14F-4D97-AF65-F5344CB8AC3E}">
        <p14:creationId xmlns:p14="http://schemas.microsoft.com/office/powerpoint/2010/main" val="35310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A540FE-2ADE-4429-8580-C130E63E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差异审查的四个入口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1152841-0A03-4A5E-9C09-F3135D73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审查成本由任务范围与证据质量共同决定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0FF154C3-A17D-4AE8-9BA3-1357F42A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3E600F5-B6A0-48FE-91D6-595FC15B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AA6754D-4BFD-4CA6-8DFC-5A5856D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业务预期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09372B-8918-4A66-8235-43892422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测试预期变化有无需求依据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3F8F9E-B3F2-4710-831B-8EB86DFC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实现范围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59E00E-7746-4A26-A680-03498C76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是否改了任务之外的行为与依赖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AF1E6A6-CBCF-4738-85D4-607928EF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数据影响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C28D01E-68B2-4760-9BE4-6C58CBB1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失败是否留脏数据，取消是否释放时段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5E4619E-4F99-4705-82EB-8E3DE985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证据来源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F3B6D8D-FBC3-4B26-82B9-864BDAA6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命令是否执行，环境与限制是否明确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92A26B0D-9624-42F3-88D8-486FD295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把审查发现转成下一次可复用的任务约束</a:t>
            </a:r>
          </a:p>
        </p:txBody>
      </p:sp>
    </p:spTree>
    <p:extLst>
      <p:ext uri="{BB962C8B-B14F-4D97-AF65-F5344CB8AC3E}">
        <p14:creationId xmlns:p14="http://schemas.microsoft.com/office/powerpoint/2010/main" val="12903613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94FEB1-E2A5-4A8F-9E60-D99B2A12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故障一：相邻修复引入重叠回归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6059F72F-F214-4626-8DBF-2FE554B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35C8DE6-204C-404C-BC6D-BDB2BC53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93AE60-C467-4D82-93FD-41CC7D2D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必须允许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DC7E0A-F5DD-4155-B9C6-F2AC6B44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11:00—12:00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6FBDE8-B621-4DEB-85E9-FB31198F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rPr>
              <a:t>必须拒绝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DF0123-A6E3-4FA4-BE01-F8C7283A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A28A0D28-B64D-4D8D-AEE4-DB5733C3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独立验收例子保持稳定，修复后同时回归两种行为</a:t>
            </a:r>
          </a:p>
        </p:txBody>
      </p:sp>
    </p:spTree>
    <p:extLst>
      <p:ext uri="{BB962C8B-B14F-4D97-AF65-F5344CB8AC3E}">
        <p14:creationId xmlns:p14="http://schemas.microsoft.com/office/powerpoint/2010/main" val="4420210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8CE07F-4B7C-4C11-811E-7EECA965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故障二：检查空闲后仍可能双订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AA5DA92-E2C8-40FC-AD90-F391B29F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两个请求都读到空闲，并不意味着都能提交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47365B8-9C6D-4A35-B9D2-353A26D7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1CBBB24-2CC3-43A2-AF9D-FA052A19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4867275"/>
                <a:gridCol w="48672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请求甲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请求乙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检查结果：空闲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检查结果：空闲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创建预约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基于旧判断创建预约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D388CB0B-3D95-42D7-A33E-4071A565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预约与占用格在同一事务内写入，唯一约束阻止双订</a:t>
            </a:r>
          </a:p>
        </p:txBody>
      </p:sp>
    </p:spTree>
    <p:extLst>
      <p:ext uri="{BB962C8B-B14F-4D97-AF65-F5344CB8AC3E}">
        <p14:creationId xmlns:p14="http://schemas.microsoft.com/office/powerpoint/2010/main" val="788339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81C570-9FA5-40EC-808C-A3495DB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故障三：页面状态与持久化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484411CD-A4AA-4072-A546-8A73FE3A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同一种丢记录现象，需要先复现再定位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57240CE-687F-464B-836C-150207E6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DEABA98-1161-4A49-B014-3125F721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E85AF8-566F-4264-BF94-B1BEADB8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页面刷新后丢失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A1B5BF3-6EDD-4E75-9841-B26C7A53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检查是否仅保存在页面内存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6CBE7D-4F24-46D3-993A-1E9E9C1B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服务重启后丢失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900DE6-ADFC-41CD-AC03-A89CB702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检查是否真正提交到正确数据库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D9786F8-35B3-4CC7-BAEB-FE4B3189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某个日期查不到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6FC237-9C42-4A1F-B568-B35D0DA7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检查日期、查询条件和返回内容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8D81A9-B7A4-4D27-AB10-8AB54E9C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修复完成依据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23FEC8D-C3FE-48EB-A7F0-AD442D1F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刷新与重启验收都通过，旧功能未回归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CF0D30D9-C720-4BC4-8B8B-007F2C26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演示只用教学数据，数据恢复步骤要可重复</a:t>
            </a:r>
          </a:p>
        </p:txBody>
      </p:sp>
    </p:spTree>
    <p:extLst>
      <p:ext uri="{BB962C8B-B14F-4D97-AF65-F5344CB8AC3E}">
        <p14:creationId xmlns:p14="http://schemas.microsoft.com/office/powerpoint/2010/main" val="270206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7512E1-A83D-4FB9-A239-137DE949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验证命令与证据记录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6AFBFBF-CA63-4370-917B-EEE53969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032163A-AD1D-466C-8411-CD61C09B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523B406-EDA1-44C2-B5AD-9D8C83B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自动检查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8FAFAC0-95B6-460E-86D1-7B9CB42B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python3 -m unittest discover -s demo/tests -v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7ECA19B-8E96-4C82-A809-E385D7F9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教学故障对照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ACEDD9-9D83-46E9-893A-C61C0738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demo/labs/failure_lab.py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574A27AA-1598-45E8-808C-2A423B57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记录环境、版本、命令、实际结果与未覆盖范围</a:t>
            </a:r>
          </a:p>
        </p:txBody>
      </p:sp>
    </p:spTree>
    <p:extLst>
      <p:ext uri="{BB962C8B-B14F-4D97-AF65-F5344CB8AC3E}">
        <p14:creationId xmlns:p14="http://schemas.microsoft.com/office/powerpoint/2010/main" val="5283119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332179-0FEA-40D8-8563-9F3EC3C1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本地演示与恢复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5567131C-D206-4916-BDE1-80258F82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2BEA8B4-A820-44B9-ABF3-A2300011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05ABB7C-D266-4C3C-884D-0826A727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启动本地示例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7257BE-C6B0-4F80-84B1-889482BD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demo/app.py --port 8765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08BA5FC-A822-4C23-BFB2-0838F56D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浏览器地址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917BE2-E4B7-421A-B1B4-008E486B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http://127.0.0.1:8765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19D9B239-0514-471A-B8AD-AE788798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恢复同时考虑程序版本与教学数据库，恢复后重跑验收</a:t>
            </a:r>
          </a:p>
        </p:txBody>
      </p:sp>
    </p:spTree>
    <p:extLst>
      <p:ext uri="{BB962C8B-B14F-4D97-AF65-F5344CB8AC3E}">
        <p14:creationId xmlns:p14="http://schemas.microsoft.com/office/powerpoint/2010/main" val="19941890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8470C5-D805-4C52-8449-6688CFAE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审批变更与阶段报告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7A2B328C-5C3E-4A3B-AFFE-579A5942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工程评估必须能支持客户承诺调整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E4A569A1-90F1-4C10-BF8A-763935CB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3A925C3-7B1D-4CE0-9465-D192E2ED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4A307F-1A3D-46DA-BF17-ABE5A41B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影响分析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0CA48C5-B13F-4DD7-B3B0-EF5EAA8F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审批人、驳回与占用规则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3AE2753-334E-4DFE-A637-99D03679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状态与权限、数据及接口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EE3B49-913F-45C1-A9DD-95C6777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返工、回归、迁移与材料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2A481AA-A165-49E5-A557-AF0D4AD7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关键路径、并行工作与外部等待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884305-1CA5-4EB6-AF82-64A2B9A6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阶段报告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1981CF8-0D89-4E57-81AC-856B8E91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原承诺与当前批准承诺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A500C7-62A6-406A-90E8-BA94116A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已验证成果及证据链接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1A5E06B-1A13-44E5-8D52-3C20AEA9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剩余工作与最新预测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81F0FD1-C22C-4626-ACF0-2B2156F6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待决策方案、负责人及前提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BFC093BC-D06D-4D57-B42E-A6AA0643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待确认范围保持待决，批准后更新需求与计划基线</a:t>
            </a:r>
          </a:p>
        </p:txBody>
      </p:sp>
    </p:spTree>
    <p:extLst>
      <p:ext uri="{BB962C8B-B14F-4D97-AF65-F5344CB8AC3E}">
        <p14:creationId xmlns:p14="http://schemas.microsoft.com/office/powerpoint/2010/main" val="2137092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C5EC3E-F27B-418F-8D2C-4D253AF6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部署与 DfX 的最低说明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08B6E38-A95C-4FAE-BC80-A01E30D5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以场景确定质量目标和验证证据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53B1CC9-ED10-4033-80C5-E0509608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4E06524-308F-4491-BB98-CC03203D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关注点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本例与真实项目的衔接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环境与准入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本地演示，真实项目确认环境、组件和数据连接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一致性与可靠性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同一时段只成功一次，验证失败与恢复路径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安全与权限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本例无登录，新增审批需要身份及权限设计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运维与性能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指定责任人、指标、验证环境和遗留限制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54F87565-CE61-4F4E-8F52-DDC60A94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本课程保留规划与验收概要，不展开产品选型</a:t>
            </a:r>
          </a:p>
        </p:txBody>
      </p:sp>
    </p:spTree>
    <p:extLst>
      <p:ext uri="{BB962C8B-B14F-4D97-AF65-F5344CB8AC3E}">
        <p14:creationId xmlns:p14="http://schemas.microsoft.com/office/powerpoint/2010/main" val="135570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31671D-0820-4B57-BF67-FA66679A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工具接续与导师培养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673EF6AE-FE82-4E87-85ED-C7A483BD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关键判断需要能够被另一个人接手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347C3FF-A5F2-4AA7-8884-462DB210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2A806C5-5B25-446C-BD01-EDC7E8D1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567E4C-A5DD-4582-A830-0B435B03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工具接续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8A1BB1-46F5-49CE-BD19-C8B233B5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保存任务、版本、差异和测试证据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DEF23C-AD88-4C58-91F1-4EEA7A2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记录工具与模型版本、成本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03518DA-029A-4ED6-99EA-D23E1F90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工具不可用时依据材料继续任务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0BB2FAB-B5CD-450C-922B-8C50842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替代工具仍需满足数据和权限要求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B575C46-7205-4198-8690-1562F2AF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导师培养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7CDCB98-C957-465C-B1FA-8D24CE06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把审查理由写成可复用例子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3F0F012-75C7-4770-8BCB-BFBCC13B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帮助新手提供可复现问题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9C09F1-A910-4B65-A7A4-96F8711D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用新故障检验诊断与恢复能力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37821E6-D7BF-4773-A57C-52A2A999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复盘审查耗时与返工原因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A5E0F3A3-8BA9-49A9-93FF-03F45362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形成能独立验收与恢复的人才梯队</a:t>
            </a:r>
          </a:p>
        </p:txBody>
      </p:sp>
    </p:spTree>
    <p:extLst>
      <p:ext uri="{BB962C8B-B14F-4D97-AF65-F5344CB8AC3E}">
        <p14:creationId xmlns:p14="http://schemas.microsoft.com/office/powerpoint/2010/main" val="14681349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89D8DB-5C27-4220-9004-4DB635CD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工程师考核与持续改进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B095DFA4-3AD2-4792-9BC6-21CEF531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处理一个未原样讲过的变更或故障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20F8755-0158-4557-B7DC-0BA0520B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D91EA7E-99CE-47D7-9AAA-E67A8566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D282B6-EC32-4EAB-9122-B372F314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提交的证据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601A225-090D-4E0B-BDCC-31AF1788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独立写出的验收与修改边界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9ECFF8C-A042-485C-BFCA-8E27DA25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最短复现及根因说明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CE49832-0CF9-4A53-B35C-24E9A39A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代码差异与回归结果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6DCCAE1-B6F8-408F-AD20-C4374AA2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接受、退回或恢复的依据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57CF2DC-CC23-471D-8B6D-9DE463A4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复盘与改进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0F90E2-AB03-4105-80AB-FC411024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哪里需要补上下文或检查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E219502-49D2-44E9-85F1-F5D0386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审查与返工花了多少时间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EF35094-8320-4308-ACD4-532DA965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哪些规则适合进入 AGENTS.md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A5DB55-F103-486F-9391-855AEB64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关联代码、图与课件是否同步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ABE28CF4-5999-4EFC-B7F9-0FB36146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能解释为什么可信，才形成可复用的委派能力</a:t>
            </a:r>
          </a:p>
        </p:txBody>
      </p:sp>
    </p:spTree>
    <p:extLst>
      <p:ext uri="{BB962C8B-B14F-4D97-AF65-F5344CB8AC3E}">
        <p14:creationId xmlns:p14="http://schemas.microsoft.com/office/powerpoint/2010/main" val="16774793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2026-10-03T05:38:59.8770000Z</dcterms:created>
  <dcterms:modified xsi:type="dcterms:W3CDTF">2026-10-03T05:38:59.8770000Z</dcterms:modified>
</coreProperties>
</file>