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0d45abbaab4761" /><Relationship Type="http://schemas.openxmlformats.org/officeDocument/2006/relationships/extended-properties" Target="/docProps/app.xml" Id="R825f41f94f6649c6" /><Relationship Type="http://schemas.openxmlformats.org/officeDocument/2006/relationships/officeDocument" Target="/ppt/presentation.xml" Id="Rbdd9b4a3eed2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b99a93f8e46c8"/>
  </p:sldMasterIdLst>
  <p:notesMasterIdLst>
    <p:notesMasterId xmlns:r="http://schemas.openxmlformats.org/officeDocument/2006/relationships" r:id="R67d3ee1b75864737"/>
  </p:notesMasterIdLst>
  <p:sldIdLst>
    <p:sldId xmlns:r="http://schemas.openxmlformats.org/officeDocument/2006/relationships" id="256" r:id="R3ef1cd011fe54fcb"/>
    <p:sldId xmlns:r="http://schemas.openxmlformats.org/officeDocument/2006/relationships" id="257" r:id="R3500caadf65f4c6d"/>
    <p:sldId xmlns:r="http://schemas.openxmlformats.org/officeDocument/2006/relationships" id="258" r:id="R918aa4bb74de42dd"/>
    <p:sldId xmlns:r="http://schemas.openxmlformats.org/officeDocument/2006/relationships" id="259" r:id="R786d19e4217f4fd4"/>
    <p:sldId xmlns:r="http://schemas.openxmlformats.org/officeDocument/2006/relationships" id="260" r:id="Re6d51845ee0b4122"/>
    <p:sldId xmlns:r="http://schemas.openxmlformats.org/officeDocument/2006/relationships" id="261" r:id="R4bcee9ae4cf74118"/>
    <p:sldId xmlns:r="http://schemas.openxmlformats.org/officeDocument/2006/relationships" id="262" r:id="Re49d9d4192f74e12"/>
    <p:sldId xmlns:r="http://schemas.openxmlformats.org/officeDocument/2006/relationships" id="263" r:id="Re8633b1dc2764af9"/>
    <p:sldId xmlns:r="http://schemas.openxmlformats.org/officeDocument/2006/relationships" id="264" r:id="R17064da862b94dae"/>
    <p:sldId xmlns:r="http://schemas.openxmlformats.org/officeDocument/2006/relationships" id="265" r:id="R8ba79e9ab2094cdf"/>
    <p:sldId xmlns:r="http://schemas.openxmlformats.org/officeDocument/2006/relationships" id="266" r:id="R6b73516d32f34c80"/>
    <p:sldId xmlns:r="http://schemas.openxmlformats.org/officeDocument/2006/relationships" id="267" r:id="Rc5edb6a3f8bf4c6c"/>
    <p:sldId xmlns:r="http://schemas.openxmlformats.org/officeDocument/2006/relationships" id="268" r:id="R9ec293b9a90e4601"/>
    <p:sldId xmlns:r="http://schemas.openxmlformats.org/officeDocument/2006/relationships" id="269" r:id="R6623f3e2369f4f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a9bb870d8437d" /><Relationship Type="http://schemas.openxmlformats.org/officeDocument/2006/relationships/slideMaster" Target="/ppt/slideMasters/slideMaster1.xml" Id="R683b99a93f8e46c8" /><Relationship Type="http://schemas.openxmlformats.org/officeDocument/2006/relationships/notesMaster" Target="/ppt/notesMasters/notesMaster1.xml" Id="R67d3ee1b75864737" /><Relationship Type="http://schemas.openxmlformats.org/officeDocument/2006/relationships/presProps" Target="/ppt/presProps.xml" Id="R49b619ea7a754918" /><Relationship Type="http://schemas.openxmlformats.org/officeDocument/2006/relationships/tableStyles" Target="/ppt/tableStyles.xml" Id="R009aced0dee54e7e" /><Relationship Type="http://schemas.openxmlformats.org/officeDocument/2006/relationships/slide" Target="/ppt/slides/slide1.xml" Id="R3ef1cd011fe54fcb" /><Relationship Type="http://schemas.openxmlformats.org/officeDocument/2006/relationships/slide" Target="/ppt/slides/slide2.xml" Id="R3500caadf65f4c6d" /><Relationship Type="http://schemas.openxmlformats.org/officeDocument/2006/relationships/slide" Target="/ppt/slides/slide3.xml" Id="R918aa4bb74de42dd" /><Relationship Type="http://schemas.openxmlformats.org/officeDocument/2006/relationships/slide" Target="/ppt/slides/slide4.xml" Id="R786d19e4217f4fd4" /><Relationship Type="http://schemas.openxmlformats.org/officeDocument/2006/relationships/slide" Target="/ppt/slides/slide5.xml" Id="Re6d51845ee0b4122" /><Relationship Type="http://schemas.openxmlformats.org/officeDocument/2006/relationships/slide" Target="/ppt/slides/slide6.xml" Id="R4bcee9ae4cf74118" /><Relationship Type="http://schemas.openxmlformats.org/officeDocument/2006/relationships/slide" Target="/ppt/slides/slide7.xml" Id="Re49d9d4192f74e12" /><Relationship Type="http://schemas.openxmlformats.org/officeDocument/2006/relationships/slide" Target="/ppt/slides/slide8.xml" Id="Re8633b1dc2764af9" /><Relationship Type="http://schemas.openxmlformats.org/officeDocument/2006/relationships/slide" Target="/ppt/slides/slide9.xml" Id="R17064da862b94dae" /><Relationship Type="http://schemas.openxmlformats.org/officeDocument/2006/relationships/slide" Target="/ppt/slides/slide10.xml" Id="R8ba79e9ab2094cdf" /><Relationship Type="http://schemas.openxmlformats.org/officeDocument/2006/relationships/slide" Target="/ppt/slides/slide11.xml" Id="R6b73516d32f34c80" /><Relationship Type="http://schemas.openxmlformats.org/officeDocument/2006/relationships/slide" Target="/ppt/slides/slide12.xml" Id="Rc5edb6a3f8bf4c6c" /><Relationship Type="http://schemas.openxmlformats.org/officeDocument/2006/relationships/slide" Target="/ppt/slides/slide13.xml" Id="R9ec293b9a90e4601" /><Relationship Type="http://schemas.openxmlformats.org/officeDocument/2006/relationships/slide" Target="/ppt/slides/slide14.xml" Id="R6623f3e2369f4f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4857c897b49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18fda76ae64fb1" /><Relationship Type="http://schemas.openxmlformats.org/officeDocument/2006/relationships/notesMaster" Target="/ppt/notesMasters/notesMaster1.xml" Id="Raff07e1e50b3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a860d2d314001" /><Relationship Type="http://schemas.openxmlformats.org/officeDocument/2006/relationships/notesMaster" Target="/ppt/notesMasters/notesMaster1.xml" Id="Rc55a206049a2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f58ce60d4a4265" /><Relationship Type="http://schemas.openxmlformats.org/officeDocument/2006/relationships/notesMaster" Target="/ppt/notesMasters/notesMaster1.xml" Id="R3546df32dc39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28a7da9db40d2" /><Relationship Type="http://schemas.openxmlformats.org/officeDocument/2006/relationships/notesMaster" Target="/ppt/notesMasters/notesMaster1.xml" Id="Rbeb8ab9e55f5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f5280edf45412d" /><Relationship Type="http://schemas.openxmlformats.org/officeDocument/2006/relationships/notesMaster" Target="/ppt/notesMasters/notesMaster1.xml" Id="R73908add7669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91515e1e7e489c" /><Relationship Type="http://schemas.openxmlformats.org/officeDocument/2006/relationships/notesMaster" Target="/ppt/notesMasters/notesMaster1.xml" Id="Ra5a0aa8a8e9a4c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f59a8cfe1d4a2c" /><Relationship Type="http://schemas.openxmlformats.org/officeDocument/2006/relationships/notesMaster" Target="/ppt/notesMasters/notesMaster1.xml" Id="Red7c33f471bd44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dbb1e004d54074" /><Relationship Type="http://schemas.openxmlformats.org/officeDocument/2006/relationships/notesMaster" Target="/ppt/notesMasters/notesMaster1.xml" Id="Rf2e1fefc928c49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6625ec7b2444c5" /><Relationship Type="http://schemas.openxmlformats.org/officeDocument/2006/relationships/notesMaster" Target="/ppt/notesMasters/notesMaster1.xml" Id="R2960baa56b5443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8d44905fd4f34" /><Relationship Type="http://schemas.openxmlformats.org/officeDocument/2006/relationships/notesMaster" Target="/ppt/notesMasters/notesMaster1.xml" Id="R5137b3b39b8b4c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22aa2f1a5b4feb" /><Relationship Type="http://schemas.openxmlformats.org/officeDocument/2006/relationships/notesMaster" Target="/ppt/notesMasters/notesMaster1.xml" Id="R8c9783a3ca1248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36684b97f44c88" /><Relationship Type="http://schemas.openxmlformats.org/officeDocument/2006/relationships/notesMaster" Target="/ppt/notesMasters/notesMaster1.xml" Id="R99858f2bf7a14c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d7ee2cd65c412c" /><Relationship Type="http://schemas.openxmlformats.org/officeDocument/2006/relationships/notesMaster" Target="/ppt/notesMasters/notesMaster1.xml" Id="R65f9842008c546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0c4d0af1714103" /><Relationship Type="http://schemas.openxmlformats.org/officeDocument/2006/relationships/notesMaster" Target="/ppt/notesMasters/notesMaster1.xml" Id="R4582b6ef48f7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交付与能力建设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这份材料帮助你依据证据判断交付状态、处理变更，并规划工具和人才。自学顺序：第 2—4 页认识常见失败，第 5—8 页建立场景、验收与架构认识，第 9—13 页学习报告和决策，第 14 页完成独立练习。按自己的节奏阅读，每页补充说明可在 PPT 备注或 manager-notes.md 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完成证明：写出一份范围清楚、引用证据、区分批准承诺与最新预测的交付决策，并说明待确认条件。案例、对话和日期均为学习假设，不代表真实客户已经确认。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原约定是周五试用查看、预约和取消。新增审批引入了审批人、驳回处理、待审批记录可见范围等未确认事项。页面已能操作，只能说明部分实现已完成，不能据此判断新增范围可以按原日期交付。一次试用因此暂缓，团队需要重新核对范围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自行判断：新增审批属于原范围缺陷，还是新需求？在承诺日期之前至少需要哪些证据？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自检：审批是新需求。基础功能是否合格要单独验收。决策需要原范围与验收状态、新增规则、受影响任务、依赖、日期预测及可选方案。本故事没有实际估算数据，不能据此给出具体延期天数。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这是虚构的错误修改情境。相邻预约误判修复后，重叠预约也被允许。测试变绿，是因为错误修改同时改变了测试预期。工程师暂缓合并，故障尚未交给真实用户。关键问题在于测试是否仍对应已确认业务规则。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自行判断：已有 10:00—11:00，接着预约 11:00—12:00 应当允许。改为 10:30—11:30 应当拒绝。不要先阅读实现，先写下这两个独立预期，再查看测试差异。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自检：能说明预期来自业务规则，并指出测试预期变化需要什么需求依据。该情境不代表每次 AI 修改都会发生同样问题。故障脚本与正确实现的比较见工程师材料。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这是虚构学习情境。页面能够接收输入并显示预约，但刷新后记录消失。故事预设记录只保存在页面内存，真实项目出现同样现象时仍需先复现、再排查，不能直接套用这个原因。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自行写出三项验收：提交后刷新仍能看到预约，同一日期重叠时段不能重复预约，取消后原时段重新可用。随后把软件拆成输入、规则、数据和结果，说明每项验收涉及哪些部分。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自检：能用操作步骤、预期与实际描述一个问题，而不是只说不好用。页面完成不等于整个预约流程可靠。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页：客户场景与本期范围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卡记录实际使用者、业务目标、输入输出、验收人和本期边界。本例假设部门同事希望减少询问空闲时间的沟通与预约冲突。一次预约不能跨日期，但不只允许预约今天。原型用于核对理解，保存、冲突和取消等行为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动手：为你负责的一项实际业务填写场景卡，列出本期包含和暂不包含的功能，再写一个可观察的成功条件。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自检：另一位读者能否据此说明谁做什么、怎样算成功、谁确认结果？尚未得到实际业务确认的内容应保留为假设。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页：Harness 的责任分工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本项目采用广义工程 harness：任务规范、上下文、环境、工具权限、检查、反馈与恢复共同支撑 AI 工作。业务负责人确认场景和验收，工程负责人判断设计及关键风险，执行者保留差异与结果，有权限的决策人确认承诺与发布。角色可以兼任，职责仍需明确。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动手：把本部门能够承担这些职责的人或岗位填入责任表，记录空缺和替补。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自检：若 AI 回复完成，谁根据什么证据接受？若工具不可用，谁接续？AGENTS.md 提供工作指导，实际检查与访问边界仍靠工具和权限配置落实。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页：进度的单位：可验收成果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实现、验证、接受是三个不同状态。代码存在表示实现有进展，运行检查提供特定环境下的验证证据，业务验收人确认才构成相应接受状态。需求编号 R 和验收编号 A 让这些证据可追踪。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 R03、R05、R08，分别填当前状态、证据链接、执行环境和未覆盖范围。没有运行的检查写未执行。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自检：测试通过但客户未看过结果时，应记录已验证、客户接受待确认。通过的场景比例不能直接换算剩余工期，剩余并发、数据或环境工作可能更复杂。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页：4A：同一个预约的四种视图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 描述用户流程与业务规则，AA 描述页面、接口、校验和存取职责，DA 描述预约及半小时占用格的关系，TA 描述本机浏览器、Python 服务与 SQLite 文件。四类视图针对不同关注点，并不要求四套系统。4A 术语口径仍需核对本部门标准。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动手：沿 R03 查找四类视图中的对应内容。相邻允许、重叠拒绝进入业务校验，日期与时间形成占用格，同日每格唯一并通过事务保护。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自检：能否解释新增审批为何会影响流程、状态、权限、数据与验证？详细图源与决策见 docs/case/architecture.md。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页：阶段报告：承诺、证据与预测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卡把原承诺、当前已批准承诺、已验收成果、剩余工作、阻塞、最新预测和待决策事项放在一起。表中的周五是演练假设，不是本项目的实际承诺。审批尚未批准时，不能把它悄悄写入基础范围，也不能把预测日期改写成批准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动手：阅读 docs/case/weekly-report-example.md，划出事实、假设、待确认项和待决策项。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自检：报告应说明下一步需要谁提供什么，以及最晚决策点如何影响后续任务。若证据不足，可以要求补证据，同时继续不依赖该决定的已授权工作。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页：新增审批的影响分析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变更分析先登记相对原基线的差异，再检查规则、设计、代码、数据、测试、发布和材料维护的影响。新增审批需确定谁审批、等待时是否占用、驳回后如何处理。已完成部分也可能需要返工。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动手：为审批变更画出任务依赖，标记可并行工作、外部等待和需要业务决定的节点。分别给出工作量与完成日期的预测依据。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自检：新增三个人日不自动等于延期三天。日期取决于关键路径、人员可用性、外部条件和缓冲。没有实际估算输入时，不填确定的延期结论。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页：合理延期的方案与沟通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变更方案可以保持日期交核心范围、完整范围另定日期、分期交付、替换低优先级项，或增加适合资源。每种方案都要说清价值、代价、前提和剩余风险，并保留必要质量与验收要求。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动手：写一段沟通草稿，包含原承诺、新增请求、影响、两个可选方案、需要谁在何时选择。再检查它是否把最新预测误写成已经批准的承诺。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自检：得到有权限的人确认后，才能更新对外基线。保留原版本和确认依据。参考 docs/case/change-example.md，对照假设与真正的承诺。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页：工具依赖与人员储备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工具依赖与人员能力需要同时管理。可运行代码、需求、测试、运行方法和问题记录支持任务接续。替代工具也需要满足组织准入和数据要求。能力清单应按能独立验收、审查、恢复或指导具体任务来记录。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动手：选择一个任务，假设当前 AI 工具暂时不可用，列出接续所需材料、负责岗位和未解决依赖。再检查是否存在只有一个人能够完成的关键职责。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自检：评估成效应包含工具成本、人工审查和返工成本、交付质量与能力人数。没有基线和真实样本时，不写效率提升百分比。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页：部署与 DfX 的客户对齐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部署对齐记录位置、环境、准入、数据连接、提供方与就绪日期，以及发布、备份、恢复和运维责任。DfX 在本材料中指面向适用质量属性规划目标与验证，例如性能、安全、可靠性、维护和运维。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动手：为同一时段不能双订填写一行 DfX：场景、目标、措施、验证环境、证据和确认人。未知的真实并发规模与性能阈值保留待确认。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自检：本地一次运行不能支持生产性能或安全承诺。示例使用标准库 HTTP，仅用于本地学习。Python 官方也不推荐 http.server 作为生产服务。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核对，本次保留原技术说明）：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页：主管练习与持续改进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独立练习：阅读带审批变更的状态报告，写出当前可作出的决策，并注明哪些证据或业务决定仍然缺失。需要的材料包括 docs/case/weekly-report-example.md、docs/case/change-example.md 及 templates/change-control.md。先完成自己的判断，再对照参考说明。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自检标准：区分实现、验证和客户接受，保留原与当前承诺，识别审批依赖，比较可行方案，并说明决策人和前提。事实不足时决定补充验证也可以，不能编造日期或确认。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完成后记录最难判断的地方。把反馈落实到相应材料，再用另一项真实任务验证是否改进。材料完成、独立完成任务和客户接受分别证明。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本页为概念说明与练习示例，无外部统计数据。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57d0aae2047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23751108048bb" /><Relationship Type="http://schemas.openxmlformats.org/officeDocument/2006/relationships/slideLayout" Target="/ppt/slideLayouts/slideLayout1.xml" Id="R310a5fce44b5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a5fce44b5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c6b10524849b0" /><Relationship Type="http://schemas.openxmlformats.org/officeDocument/2006/relationships/notesSlide" Target="/ppt/notesSlides/notesSlide1.xml" Id="Rc7452400906f40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041e0b3ea4adf" /><Relationship Type="http://schemas.openxmlformats.org/officeDocument/2006/relationships/notesSlide" Target="/ppt/notesSlides/notesSlide2.xml" Id="Rf702f8e3c9a9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35684a1154353" /><Relationship Type="http://schemas.openxmlformats.org/officeDocument/2006/relationships/notesSlide" Target="/ppt/notesSlides/notesSlide3.xml" Id="R6fee7332878a40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f70dabbbc46f6" /><Relationship Type="http://schemas.openxmlformats.org/officeDocument/2006/relationships/notesSlide" Target="/ppt/notesSlides/notesSlide4.xml" Id="R36c58021e7c4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a8643bda45a4" /><Relationship Type="http://schemas.openxmlformats.org/officeDocument/2006/relationships/notesSlide" Target="/ppt/notesSlides/notesSlide5.xml" Id="Rddccb371b75b48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a0597bc0744a5" /><Relationship Type="http://schemas.openxmlformats.org/officeDocument/2006/relationships/notesSlide" Target="/ppt/notesSlides/notesSlide6.xml" Id="Rb5532a0e2c8849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372bdb7704fbc" /><Relationship Type="http://schemas.openxmlformats.org/officeDocument/2006/relationships/notesSlide" Target="/ppt/notesSlides/notesSlide7.xml" Id="R3f7a648d55e6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66cc0e88c4960" /><Relationship Type="http://schemas.openxmlformats.org/officeDocument/2006/relationships/notesSlide" Target="/ppt/notesSlides/notesSlide8.xml" Id="R1cfc35d7215c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669b9bb4478e" /><Relationship Type="http://schemas.openxmlformats.org/officeDocument/2006/relationships/notesSlide" Target="/ppt/notesSlides/notesSlide9.xml" Id="Rad35d12dc6a94a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915934cac4a3c" /><Relationship Type="http://schemas.openxmlformats.org/officeDocument/2006/relationships/notesSlide" Target="/ppt/notesSlides/notesSlide10.xml" Id="Ra9c35920734149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19757d2ae4ff3" /><Relationship Type="http://schemas.openxmlformats.org/officeDocument/2006/relationships/notesSlide" Target="/ppt/notesSlides/notesSlide11.xml" Id="R615dec921dd742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d8c362fe94004" /><Relationship Type="http://schemas.openxmlformats.org/officeDocument/2006/relationships/notesSlide" Target="/ppt/notesSlides/notesSlide12.xml" Id="Rc2a414660e5545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1a86cf0d5434e" /><Relationship Type="http://schemas.openxmlformats.org/officeDocument/2006/relationships/notesSlide" Target="/ppt/notesSlides/notesSlide13.xml" Id="Rb83b541b425740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82ed8d3b04ce1" /><Relationship Type="http://schemas.openxmlformats.org/officeDocument/2006/relationships/notesSlide" Target="/ppt/notesSlides/notesSlide14.xml" Id="R04e9bb6c08e74e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2B0FAF-9BA7-48D0-AC6B-C5EAC447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主管自学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76B5797-7556-496F-BF86-6D61FDF5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交付与能力建设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3D73C3-1191-41BC-8DD2-2099640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用交付证据控制进度与风险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C66C08-410B-4024-AFF9-739A9A8E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057FC5-DB73-4282-8D3C-4640322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822698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31C394-3DAE-4CC9-B51E-447FDA4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6F493EB-C29D-4685-AAA5-7125CD94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EAFD857-EACB-414F-A033-448066D5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151F60-E31C-45BA-AA8C-5B25720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FEACC6-9BE6-450B-8B35-6B458BD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B68F85-7FDE-4720-B794-0AA3A0D6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45CE44-7FE9-46AE-8307-B963796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856D06-B71B-470D-B317-971A4BB4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6631B4-0764-4AD1-9E3C-D702873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B74FD39-509B-4F1D-A177-21C68C34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49A82CD-EEBD-451E-B6C9-6AD91220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B488DE-E00F-40A2-AC58-6F63689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112A99-522D-4B01-A079-B473D97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229018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705C6E-B192-40CC-BC48-4D5C8B7C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62AE0AE-35C0-4457-B0B3-D1937A4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0A17931-A2E9-4BD9-A8E3-7E6640FE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E4609D7-BDB4-490D-B5D2-A6A009D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870D2A-D3A9-41F5-AD3D-C74135BA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A62030-BF3F-4834-B6F6-B7D9717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CCFAA4-79AA-47BF-BA7C-148519D3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99CC28-5F73-4B83-BFE8-CA4785CC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240608-7810-446C-B4A1-4946539D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5B503DD-E4C9-4816-B34A-3451DD7F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71140A-F00F-45AF-A590-690427AD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CBD1E6-B563-4087-B8B4-6F66A482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CB6C37-9380-4D8F-B0AE-8E8DF73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2110296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75960E-4275-4C83-9970-990F9EB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7FDC326-D802-4648-99F4-45F16B94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E7DD77-29E6-42F6-90D4-C1EA238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2F1FB4-182C-4FF2-837C-4DC7FDE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A38841-2FCE-432D-86EA-7AAC663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0A93C0-72A1-4098-AA3A-6A9EC38F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20FF42-EC99-4404-9574-8000073B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3E70E3-D4AB-4B3B-B7BB-8555A07C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F0F202-C028-4672-A7BE-6F2B0F40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EEF06E0-405E-47FD-AF4C-75A76061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19B9FA-C871-485F-9B19-ACB46E47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FB0402-F682-42BE-9687-E1D55F88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589045-BD79-40B4-B7F0-E17611CB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虚构学习情境</a:t>
            </a:r>
          </a:p>
        </p:txBody>
      </p:sp>
    </p:spTree>
    <p:extLst>
      <p:ext uri="{BB962C8B-B14F-4D97-AF65-F5344CB8AC3E}">
        <p14:creationId xmlns:p14="http://schemas.microsoft.com/office/powerpoint/2010/main" val="1690066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FFDB8B-5DA5-4728-B631-432722D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客户场景与本期范围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CD8AFEB-D51F-4174-90DC-E81EC060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客户要完成一件事：找到空闲时段并可靠预约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26F94E8-3284-426A-BA70-B674E0D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67DE27F-57C4-4A2F-949C-000BB90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222C0C-5AAC-4514-9161-31373682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场景与验收人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855C8C-D388-4AAC-9229-FF3E68D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使用者：部门同事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79A9DA-81C5-4B85-83F3-B8DA0831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业务目标：减少重复沟通与冲突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1A1E7A-F964-4FEF-A830-D93C414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验收人：业务负责人指定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944C1A-B3EF-4505-959E-72A6C49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真实场景与权限仍待确认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D57C08-34E8-4227-8DCE-94B3462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示例范围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2AB172-9FD5-4AA4-96BD-B2C754D8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EFA7A0-BB84-4716-ACA4-3FB89E73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98DEBB-9CAC-49EA-AA3D-1BB5F766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半小时时段，查看、预约、取消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931DBB6-73C7-4047-92C0-5B3A67A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本地示例，无登录与审批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71CE1C32-6E2A-4C1B-B290-9D4F006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原型核对理解，验收例子固定预期</a:t>
            </a:r>
          </a:p>
        </p:txBody>
      </p:sp>
    </p:spTree>
    <p:extLst>
      <p:ext uri="{BB962C8B-B14F-4D97-AF65-F5344CB8AC3E}">
        <p14:creationId xmlns:p14="http://schemas.microsoft.com/office/powerpoint/2010/main" val="1330044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E9B3DE-9264-458A-A683-9372866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Harness 的责任分工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B727E27-A384-4226-82C3-F2846F4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本项目将 harness 定义为 AI 工作的工程支撑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A956C90-1F5C-4441-A4F8-707D190A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44863E-2DB2-491C-9505-0B7B0D3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E2A51E-92EB-4EE5-9D64-C80AF000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业务负责人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9C953F-26BF-4D37-A2BD-FF1E48E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说明场景，确认范围与验收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728116-84A0-45CC-BCBA-A8693FB0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工程负责人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46CECD-DBB5-445E-BC2B-3A80C38E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划定修改边界，审查与独立验证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D38A5E-463B-47D6-89C5-FF89A5FC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执行者与 AI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D4CC90-ACE4-448B-A97D-515A6FF7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小步实现，留下差异与运行证据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6F6F9E-4827-4826-9D43-DB053E7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授权决策人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F906D6-D9E9-4D4C-A31E-843E20E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确认资源、预算、日期及发布决定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E8A72FE5-3C2F-4A90-9871-3A3ADFF1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AGENTS.md 保存工作指导，检查与权限由实际机制落实</a:t>
            </a:r>
          </a:p>
        </p:txBody>
      </p:sp>
    </p:spTree>
    <p:extLst>
      <p:ext uri="{BB962C8B-B14F-4D97-AF65-F5344CB8AC3E}">
        <p14:creationId xmlns:p14="http://schemas.microsoft.com/office/powerpoint/2010/main" val="822072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DD8FA8-4832-4D1D-A93F-E075D47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进度的单位：可验收成果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0396183-D29E-4857-B551-0945BCF0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同一场景分别记录实现、验证、接受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AF83E32-4856-4C29-91F6-7F2B9ED7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6C7484-0DB5-4FFA-B52D-79028DB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476625"/>
                <a:gridCol w="4543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需求与验收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可观察结果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应保留的证据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 冲突与相邻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相邻允许，重叠拒绝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验收例子与实际运行结果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 持久化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刷新及重启后记录仍在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操作记录与数据检查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 同时预约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并发测试与失败响应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2702228B-F7BD-40F5-9F32-D2282A0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代码已写完、检查已通过、客户已接受，是三个不同状态</a:t>
            </a:r>
          </a:p>
        </p:txBody>
      </p:sp>
    </p:spTree>
    <p:extLst>
      <p:ext uri="{BB962C8B-B14F-4D97-AF65-F5344CB8AC3E}">
        <p14:creationId xmlns:p14="http://schemas.microsoft.com/office/powerpoint/2010/main" val="1909768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22DFD9-A0FC-4C60-8E55-B53E55CC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4A：同一个预约的四种视图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245DB7F-5209-46BB-A803-648B57FF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3914959-761F-48FF-B821-3155E0E8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CBC283-E734-4089-894F-6A8C5D2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9EBC58-8001-419F-8D8A-C7BE6078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0B0EF5-D318-4279-8CB7-C8AB7339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43C37FC3-F417-41D3-A049-DB8F7C2B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DF4B2EE7-50DB-454D-B038-6D26CF8F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8B8AF073-20B3-4064-A096-87FB4EB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CFF4F4-6E34-43C7-9D1C-E80691CC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664A4E-F568-4AFD-A846-E80BE4C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43EA4429-0F51-48A2-A8FE-D88EA507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A7C2060B-06B4-455C-AD93-5E0B7245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9DAE03B2-4B48-4FE5-AEFD-E8D7D9EF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BD05B9-C71D-4CC9-B475-D1B6B243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C1946DC-3722-433A-9C69-C20E5B3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C724FB3D-57FC-4A97-8B31-404BFF25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2024394B-391C-4E65-A3AA-693A48F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6E705E5F-5FDE-4253-968D-10174F0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4CD5509-D24F-4E5C-BB97-4D03EDA7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23E40B5-95FF-474E-92AE-AE9CAED5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26B055C3-F1D4-47E3-BF7C-217CACC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65879E3D-4678-4264-B52D-DB0E505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A25357D6-790B-4D64-83BE-4A73A570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ED95F7B1-4A59-4136-A3ED-197D7F1F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4A 暂采用 BA、AA、DA、TA 口径，真实项目需核对部门标准</a:t>
            </a:r>
          </a:p>
        </p:txBody>
      </p:sp>
    </p:spTree>
    <p:extLst>
      <p:ext uri="{BB962C8B-B14F-4D97-AF65-F5344CB8AC3E}">
        <p14:creationId xmlns:p14="http://schemas.microsoft.com/office/powerpoint/2010/main" val="1662521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BC8CE5-9D47-4CCA-8CAB-1433F236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阶段报告：承诺、证据与预测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B51B550-D127-4894-BDC8-E1215F1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示范状态卡，所有日期均为演练假设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FAE2180-7A1E-4A76-9181-8E11F82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FDFD5E7-512A-4355-90DD-0E55F438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原承诺与当前批准承诺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周五试用基础功能，审批尚未批准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已验证与剩余工作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逐项引用证据，列出未通过的验收项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最新完成预测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按剩余任务、关键依赖和缓冲重新计算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偏差与待决策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审批待澄清，请决策人选择交付方案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44B1E91D-5550-4B3A-AF94-6268983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预测日期与已批准日期分别展示，保留原基线</a:t>
            </a:r>
          </a:p>
        </p:txBody>
      </p:sp>
    </p:spTree>
    <p:extLst>
      <p:ext uri="{BB962C8B-B14F-4D97-AF65-F5344CB8AC3E}">
        <p14:creationId xmlns:p14="http://schemas.microsoft.com/office/powerpoint/2010/main" val="5339545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440C0-0C92-4450-98B5-90B70B6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新增审批的影响分析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D58E287-9D2A-4A87-B49E-4AB5994C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先澄清规则，再评估返工与计划影响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85D2844-0587-4A34-A3AA-42163B5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EB00FD-6BC1-4833-B4B6-9095B47B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受影响部分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需要补充的工作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谁审批，驳回怎么办，何时占用时段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4A 与实现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身份权限、审批状态、接口及数据变化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验证与交付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权限和状态测试、迁移、演示与材料更新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工期与依赖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关键路径、可并行任务、人员与外部等待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E8DE1C97-BC39-4B74-8287-231CAC9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新增人日不能直接等同于延期天数</a:t>
            </a:r>
          </a:p>
        </p:txBody>
      </p:sp>
    </p:spTree>
    <p:extLst>
      <p:ext uri="{BB962C8B-B14F-4D97-AF65-F5344CB8AC3E}">
        <p14:creationId xmlns:p14="http://schemas.microsoft.com/office/powerpoint/2010/main" val="26054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856A27-FC48-4A7E-9104-69565F3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合理延期的方案与沟通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2B6F05F-2C53-45E1-8DC5-02BFDD3B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先说明业务影响，再提出有依据的选择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6D0192B-4E7E-4ACF-A3E1-0026061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A12414-B38A-48ED-AF47-3C44DC5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9ADBF2-9C7C-4422-8080-9811AEF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可选方案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188E8B-0A97-476C-B810-003D4B0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原日期先交基础范围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6BD5FC-9AA7-4420-A406-0E9C7AB1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完整审批范围另定日期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D6C053-4021-45CE-9DA3-20C85AF6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分期交付或替换低优先级项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893B65-0CA5-4461-80CA-82687395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增加适合资源并验证有效性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2E53C7-E023-4ED1-97AA-3E9D1550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一段完整说明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0F95C2-03B5-4565-92B5-F592005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原承诺与新增请求是什么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4E1F4D-4AD3-45CB-9D1A-82EE745B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影响哪些交付及关键依赖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0DAA36-B9BA-4B7F-89BC-EA5259C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每个方案的范围、预测与风险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8F83CF2-DFD0-42FD-9FCD-7750C63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谁需要在何时作出选择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6E9BC07F-E056-4FBC-82F0-9641EEFA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授权人确认后更新基线，保留原版本与确认依据</a:t>
            </a:r>
          </a:p>
        </p:txBody>
      </p:sp>
    </p:spTree>
    <p:extLst>
      <p:ext uri="{BB962C8B-B14F-4D97-AF65-F5344CB8AC3E}">
        <p14:creationId xmlns:p14="http://schemas.microsoft.com/office/powerpoint/2010/main" val="5609870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F39494-B6C5-4286-ADE7-B634B21F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工具依赖与人员储备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B77F789-D08C-435D-9976-8BC4E35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能力建设需要明确的接管责任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8E1250E-A2A1-46E7-940E-000262B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EAAF20-0C13-4DDB-BABE-069B1E7B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C85E4C-E0D5-46C2-BD08-10F4C96C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工具管理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07C616-ADB4-4BB4-A25E-286BFFDD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记录工具、模型、版本与成本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EE5334-EE7F-4CA1-B2DC-89D1A1F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说明允许的数据和操作边界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5C20D5-757A-44B9-A362-5E3B96B3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保存任务上下文与可运行代码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690D56-9808-4162-9513-4C1A2F1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演练工具不可用时的接续方式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DB4CCC-73F6-438B-A120-DB225E8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人员培养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F5385F-7900-45BB-BBF7-FE3C9F1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业务负责人掌握场景与验收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A52CF4-14CB-4F1B-94D5-2F4A14B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技术负责人承担架构与关键审查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69790C-ADB1-4763-930B-68311D4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成员用新任务证明独立完成能力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960B78-C5C7-4726-AE28-CC29DCF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安排替补，减少单人依赖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1376A5B1-D1D0-4993-BD56-5C4DA28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统计审查与返工成本，连同工具成本评估成效</a:t>
            </a:r>
          </a:p>
        </p:txBody>
      </p:sp>
    </p:spTree>
    <p:extLst>
      <p:ext uri="{BB962C8B-B14F-4D97-AF65-F5344CB8AC3E}">
        <p14:creationId xmlns:p14="http://schemas.microsoft.com/office/powerpoint/2010/main" val="16527842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EE7FCD-AFFD-441F-81A2-C6311DE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的客户对齐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BD9347B-E002-4AA1-B646-9C7A801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部署清单与质量目标的基本口径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B466624-C776-44C5-9BE6-8D0D9C0F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A485559-AEEA-4F37-8BED-950A3B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对齐项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需要说清楚的内容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部署条件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位置、环境、准入、数据连接、就绪日期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交付与运维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发布窗口、监控备份、恢复与责任人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DfX 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按场景选择性能、安全、可靠性等目标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目标阈值、环境、证据、确认人及遗留问题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6E145E3C-3E62-4655-837C-DF843DD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本地练习使用标准库 HTTP 服务，真实部署需另行评审</a:t>
            </a:r>
          </a:p>
        </p:txBody>
      </p:sp>
    </p:spTree>
    <p:extLst>
      <p:ext uri="{BB962C8B-B14F-4D97-AF65-F5344CB8AC3E}">
        <p14:creationId xmlns:p14="http://schemas.microsoft.com/office/powerpoint/2010/main" val="18738583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6E976E-131E-4FF8-B786-1BC1A43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主管练习与持续改进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AE92AAF-46D2-4C68-ACAE-7147F10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产出一项可解释的决策，保留依据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F33FBA4-603F-49B9-B0F4-ADED1829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4C5CA8-9FEF-4CDC-B5EA-6FD2A40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7D92AB-2048-44EE-B46F-B089EC4E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独立练习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1A76B9-27CC-426C-A5BB-E894EE0F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独立分析一份带审批变更的报告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CE6A39-4811-4D21-AEFC-4B7A5FE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区分实现、验证与客户接受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508049-84AF-43A2-8FE4-31EF5DA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比较方案并记录待确认前提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2110D3-C7B3-427A-8F94-4E3BFDD3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提出负责人及最晚决策时间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FDB5DE-B8EB-4F47-995D-FB5B798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后续观察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34D044-2A29-47DE-82A4-1947884D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材料能否回答阅读中的真实疑问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541A28-BDC3-473F-9C41-7AE367C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新任务能否独立完成并验收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A7C61F-6C91-4242-AE35-F3A0FDAF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真实项目的周期、缺陷与总成本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10BCDF3-8BCE-42A1-AFB6-754EF48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反馈登记后同步修改相关材料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4C9885EE-1D05-4460-BFC7-83623B3E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材料可用、学会迁移、客户接受分别验证</a:t>
            </a:r>
          </a:p>
        </p:txBody>
      </p:sp>
    </p:spTree>
    <p:extLst>
      <p:ext uri="{BB962C8B-B14F-4D97-AF65-F5344CB8AC3E}">
        <p14:creationId xmlns:p14="http://schemas.microsoft.com/office/powerpoint/2010/main" val="80128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2026-10-04T05:30:02.3600000Z</dcterms:created>
  <dcterms:modified xsi:type="dcterms:W3CDTF">2026-10-04T05:30:02.3600000Z</dcterms:modified>
</coreProperties>
</file>